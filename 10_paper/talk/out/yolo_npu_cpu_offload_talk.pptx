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7A951F2-5DEB-E7B7-C52C-EC0DF92FCC84}">
          <p14:sldIdLst>
            <p14:sldId id="256"/>
            <p14:sldId id="257"/>
          </p14:sldIdLst>
        </p14:section>
        <p14:section name="문제와 대상 시스템" id="{6FFB4A02-F665-386B-888F-CE4AE5029E4F}">
          <p14:sldIdLst>
            <p14:sldId id="258"/>
            <p14:sldId id="259"/>
            <p14:sldId id="260"/>
          </p14:sldIdLst>
        </p14:section>
        <p14:section name="CPU 최소화 기술" id="{2A2DF7E9-0165-DA73-2088-C1D62709E020}">
          <p14:sldIdLst>
            <p14:sldId id="261"/>
            <p14:sldId id="262"/>
            <p14:sldId id="263"/>
            <p14:sldId id="264"/>
            <p14:sldId id="265"/>
          </p14:sldIdLst>
        </p14:section>
        <p14:section name="결과" id="{8B18866C-42C3-A154-E69F-58A891033208}">
          <p14:sldIdLst>
            <p14:sldId id="266"/>
          </p14:sldIdLst>
        </p14:section>
        <p14:section name="결론" id="{307B9285-86F2-7ADC-E2B1-E4387E188C76}">
          <p14:sldIdLst>
            <p14:sldId id="267"/>
          </p14:sldIdLst>
        </p14:section>
        <p14:section name="맺음말" id="{2CAD5027-5ADC-5725-BE48-F15EC8DD5C4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  <a:ea typeface="+mn-ea"/>
              </a:defRPr>
            </a:pPr>
            <a:r>
              <a:rPr sz="1400" b="0" i="0" u="none" strike="noStrike">
                <a:solidFill>
                  <a:schemeClr val="tx1"/>
                </a:solidFill>
                <a:latin typeface="+mn-lt"/>
                <a:ea typeface="+mn-ea"/>
              </a:rPr>
              <a:t>(a) 소프트웨어 대 하드웨어 (ms/프레임)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4"/>
          <c:y val="0.16"/>
          <c:w val="0.5"/>
          <c:h val="0.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소프트웨어 디코드</c:v>
                </c:pt>
              </c:strCache>
            </c:strRef>
          </c:tx>
          <c:spPr>
            <a:solidFill>
              <a:srgbClr val="9AAA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하드웨어 + dma-buf
(응용)</c:v>
                  </c:pt>
                  <c:pt idx="1">
                    <c:v>소프트웨어 디코드
(avdec_h265)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dma-buf 0.23까지</c:v>
                </c:pt>
              </c:strCache>
            </c:strRef>
          </c:tx>
          <c:spPr>
            <a:solidFill>
              <a:srgbClr val="C864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하드웨어 + dma-buf
(응용)</c:v>
                  </c:pt>
                  <c:pt idx="1">
                    <c:v>소프트웨어 디코드
(avdec_h265)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0.23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dma-buf 0.23~0.28 범위</c:v>
                </c:pt>
              </c:strCache>
            </c:strRef>
          </c:tx>
          <c:spPr>
            <a:solidFill>
              <a:srgbClr val="F0B2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하드웨어 + dma-buf
(응용)</c:v>
                  </c:pt>
                  <c:pt idx="1">
                    <c:v>소프트웨어 디코드
(avdec_h265)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0.05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chemeClr val="tx1"/>
                  </a:solidFill>
                  <a:latin typeface="+mn-lt"/>
                  <a:ea typeface="+mn-ea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  <a:ea typeface="+mn-ea"/>
              </a:defRPr>
            </a:pPr>
            <a:endParaRPr lang="ko-KR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9525" cap="flat">
              <a:solidFill>
                <a:srgbClr val="D6DE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accent2"/>
                </a:solidFill>
                <a:latin typeface="+mn-lt"/>
                <a:ea typeface="+mn-ea"/>
              </a:defRPr>
            </a:pPr>
            <a:endParaRPr lang="ko-KR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  <a:ea typeface="+mn-ea"/>
              </a:defRPr>
            </a:pPr>
            <a:r>
              <a:rPr sz="1400" b="0" i="0" u="none" strike="noStrike">
                <a:solidFill>
                  <a:schemeClr val="tx1"/>
                </a:solidFill>
                <a:latin typeface="+mn-lt"/>
                <a:ea typeface="+mn-ea"/>
              </a:rPr>
              <a:t>(b) 하드웨어 출력 경로별 · 확대 (ms/프레임)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4"/>
          <c:y val="0.16"/>
          <c:w val="0.5"/>
          <c:h val="0.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CPU로 내려받음</c:v>
                </c:pt>
              </c:strCache>
            </c:strRef>
          </c:tx>
          <c:spPr>
            <a:solidFill>
              <a:srgbClr val="9AAA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dma-buf 유지
(응용)</c:v>
                  </c:pt>
                  <c:pt idx="1">
                    <c:v>dma-buf 유지
(명령행)</c:v>
                  </c:pt>
                  <c:pt idx="2">
                    <c:v>CPU로 내려받음
(명령행)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dma-buf 유지 (명령행)</c:v>
                </c:pt>
              </c:strCache>
            </c:strRef>
          </c:tx>
          <c:spPr>
            <a:solidFill>
              <a:srgbClr val="C864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dma-buf 유지
(응용)</c:v>
                  </c:pt>
                  <c:pt idx="1">
                    <c:v>dma-buf 유지
(명령행)</c:v>
                  </c:pt>
                  <c:pt idx="2">
                    <c:v>CPU로 내려받음
(명령행)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0.55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dma-buf 0.23까지</c:v>
                </c:pt>
              </c:strCache>
            </c:strRef>
          </c:tx>
          <c:spPr>
            <a:solidFill>
              <a:srgbClr val="C864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dma-buf 유지
(응용)</c:v>
                  </c:pt>
                  <c:pt idx="1">
                    <c:v>dma-buf 유지
(명령행)</c:v>
                  </c:pt>
                  <c:pt idx="2">
                    <c:v>CPU로 내려받음
(명령행)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dma-buf 0.23~0.28 범위</c:v>
                </c:pt>
              </c:strCache>
            </c:strRef>
          </c:tx>
          <c:spPr>
            <a:solidFill>
              <a:srgbClr val="F0B2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dma-buf 유지
(응용)</c:v>
                  </c:pt>
                  <c:pt idx="1">
                    <c:v>dma-buf 유지
(명령행)</c:v>
                  </c:pt>
                  <c:pt idx="2">
                    <c:v>CPU로 내려받음
(명령행)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chemeClr val="tx1"/>
                  </a:solidFill>
                  <a:latin typeface="+mn-lt"/>
                  <a:ea typeface="+mn-ea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  <a:ea typeface="+mn-ea"/>
              </a:defRPr>
            </a:pPr>
            <a:endParaRPr lang="ko-KR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b"/>
        <c:majorGridlines>
          <c:spPr>
            <a:ln w="9525" cap="flat">
              <a:solidFill>
                <a:srgbClr val="D6DEE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accent2"/>
                </a:solidFill>
                <a:latin typeface="+mn-lt"/>
                <a:ea typeface="+mn-ea"/>
              </a:defRPr>
            </a:pPr>
            <a:endParaRPr lang="ko-KR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  <a:ea typeface="+mn-ea"/>
              </a:defRPr>
            </a:pPr>
            <a:r>
              <a:rPr sz="1400" b="0" i="0" u="none" strike="noStrike">
                <a:solidFill>
                  <a:schemeClr val="tx1"/>
                </a:solidFill>
                <a:latin typeface="+mn-lt"/>
                <a:ea typeface="+mn-ea"/>
              </a:rPr>
              <a:t>배치 1 응용 CPU (ms/프레임)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응용 CPU</c:v>
                </c:pt>
              </c:strCache>
            </c:strRef>
          </c:tx>
          <c:spPr>
            <a:solidFill>
              <a:srgbClr val="9AAAB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600" u="none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AB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641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출발점</c:v>
                  </c:pt>
                  <c:pt idx="1">
                    <c:v>② GPU가 NHCW 생성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17.6</c:v>
                </c:pt>
                <c:pt idx="1">
                  <c:v>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600" u="none">
                  <a:solidFill>
                    <a:schemeClr val="tx1"/>
                  </a:solidFill>
                  <a:latin typeface="+mn-lt"/>
                  <a:ea typeface="+mn-e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  <a:ea typeface="+mn-ea"/>
              </a:defRPr>
            </a:pPr>
            <a:endParaRPr lang="ko-KR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6DE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accent2"/>
                </a:solidFill>
                <a:latin typeface="+mn-lt"/>
                <a:ea typeface="+mn-ea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  <a:ea typeface="+mn-ea"/>
              </a:defRPr>
            </a:pPr>
            <a:r>
              <a:rPr sz="1400" b="0" i="0" u="none" strike="noStrike">
                <a:solidFill>
                  <a:schemeClr val="tx1"/>
                </a:solidFill>
                <a:latin typeface="+mn-lt"/>
                <a:ea typeface="+mn-ea"/>
              </a:rPr>
              <a:t>배치 1/슬롯 1 응용 CPU (ms/프레임)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응용 CPU</c:v>
                </c:pt>
              </c:strCache>
            </c:strRef>
          </c:tx>
          <c:spPr>
            <a:solidFill>
              <a:srgbClr val="9AAAB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600" u="none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AB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641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결과 해석 CPU (직전)</c:v>
                  </c:pt>
                  <c:pt idx="1">
                    <c:v>③ 결과 해석 GPU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3.25</c:v>
                </c:pt>
                <c:pt idx="1">
                  <c:v>0.94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600" u="none">
                  <a:solidFill>
                    <a:schemeClr val="tx1"/>
                  </a:solidFill>
                  <a:latin typeface="+mn-lt"/>
                  <a:ea typeface="+mn-e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  <a:ea typeface="+mn-ea"/>
              </a:defRPr>
            </a:pPr>
            <a:endParaRPr lang="ko-KR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6DEE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accent2"/>
                </a:solidFill>
                <a:latin typeface="+mn-lt"/>
                <a:ea typeface="+mn-ea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NPU가 추론을 맡은 뒤에도 CPU에 남는 일을 어떻게 걷어냈는지, 지연이 가장 짧은 운용 방식을 기준으로 말씀드린다.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문제와 대상을 보고, 다섯 가지 기술을 차례로 설명한 뒤, 결과와 결론으로 마무리한다.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목표는 CPU 개입을 최소화하는 것이다. 단, 처리량이 아니라 최저 지연 운용에서 그렇게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계열 구성의 선행 사례가 있다 [6][7].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기술 — ① 하드웨어 디코더와 제로 카피 ② NPU 형식을 GPU가 직접 생성 ③ 결과 해석도 GPU ④ 최저 지연 운용 ⑤ CPU는 지휘만.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소프트웨어 디코드는 프레임당 약 32 ms로 한 코어를 거의 다 쓴다. 하드웨어 디코더를 쓰고 출력을 dma-buf로 그대로 넘기면 0.23~0.28 ms다. 오른쪽은 같은 하드웨어 디코드에서 출력을 CPU로 내려받기만 해도 약 3.6배 비싸진다는 것 — CPU 비용의 원인이 복사라는 증거다.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NPU는 칩 내부용 NHCW 배치를 쓰므로 NHWC로 넘기면 런타임이 CPU에서 형식을 바꾼다. 비용의 원인은 변환 연산이 아니라 CPU가 캐시되지 않는 GPU 메모리를 바이트 단위로 읽는 데 있었다. 그래서 Vulkan 전처리 셰이더가 처음부터 NHCW로 쓰게 했고, 배치 1 응용 CPU가 17.6에서 3.3 ms/프레임으로 줄었다.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NPU 원시 출력도 dma-buf로 GPU에 넘겨 박스 복원과 NMS를 GPU 셰이더가 하고, CPU는 최종 검출 몇 개만 받는다. 응용 CPU는 3.25에서 0.94 ms/프레임으로 줄었고 지연은 그대로였다. 정확도는 CPU 기준 구현과 같고, NPU 런타임 NMS와는 IoU 0.9 매칭 0.999다. 이 측정은 7번 슬라이드와 조건이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배치 1, 슬롯 1로 한 번에 한 프레임만 처리하고, 입력은 카메라처럼 소스 시각에 맞춰 도착시키며, 대기열은 한 칸만 두어 처리 못 한 프레임은 버린다. 페이싱이 없을 때는 디코드 끝 기준 79 ms의 절반 넘게가 앞 프레임을 기다린 대기였다. 이 방식으로 도착 기준 평균 58.4 ms를 얻었고, 그 대가로 입력의 18.6%를 버린다.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남은 CPU 일은 지휘뿐이다. 작업을 제출하고, 완료 이벤트가 오면 깨어나 다음 일을 넘긴다. 이렇게 해서 최저 지연 운용점에서 처리한 프레임당 약 1 ms가 남았고, 그 감소의 대부분은 앞의 ②·③ 덕분이다.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표는 기술별 응용 CPU 시간과 최저 지연 운용점을 정리한 것이다. 위 두 행과 아래 두 행은 측정 조건이 다르고, 4행 CPU는 처리한 프레임 기준이며, 3·4행의 지연은 기점이 달라 서로 빼지 않는다. 검출 결과는 기준 경로와 같았다.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정리하면, CPU를 줄이는 열쇠는 연산을 빠르게 하는 것이 아니라 CPU가 데이터를 읽지 않게 하는 것이다. 디코더·GPU·NPU가 dma-buf로 직접 주고받고 형식 생성과 결과 해석을 GPU에 맡기면 CPU에는 지휘만 남는다. 최저 지연 운용에서 응용 CPU는 약 1 ms/프레임, 도착 기준 58.4 ms였고, 그 대가로 입력의 18.6%를 버린다.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이상입니다.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11880"/>
            <a:ext cx="106984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120640"/>
            <a:ext cx="5943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2"/>
                </a:solidFill>
              </a:rPr>
              <a:t>NPU 기반 YOLO 추론에서 호스트 CPU 최소화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4028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108960"/>
            <a:ext cx="5943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NPU 기반 YOLO 추론에서 호스트 CPU 최소화</a:t>
            </a:r>
            <a:endParaRPr lang="ko-KR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chemeClr val="bg2"/>
                </a:solidFill>
              </a:rPr>
              <a:t>최저 지연 운용을 기준으로</a:t>
            </a:r>
            <a:endParaRPr lang="ko-KR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11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accent3"/>
                </a:solidFill>
              </a:rPr>
              <a:t>Minimizing Host CPU Load in NPU-Based YOLO Inference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120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800" dirty="0">
                <a:solidFill>
                  <a:schemeClr val="bg1"/>
                </a:solidFill>
              </a:rPr>
              <a:t>발표자 (작성 필요)</a:t>
            </a:r>
            <a:endParaRPr lang="ko-KR" sz="1800" dirty="0"/>
          </a:p>
        </p:txBody>
      </p:sp>
      <p:sp>
        <p:nvSpPr>
          <p:cNvPr id="6" name="흐름 아이콘 원 1"/>
          <p:cNvSpPr/>
          <p:nvPr/>
        </p:nvSpPr>
        <p:spPr>
          <a:xfrm>
            <a:off x="7818120" y="49834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흐름 아이콘 1" descr="디코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5166360"/>
            <a:ext cx="365760" cy="365760"/>
          </a:xfrm>
          <a:prstGeom prst="rect">
            <a:avLst/>
          </a:prstGeom>
        </p:spPr>
      </p:pic>
      <p:sp>
        <p:nvSpPr>
          <p:cNvPr id="8" name="흐름 아이콘 원 2"/>
          <p:cNvSpPr/>
          <p:nvPr/>
        </p:nvSpPr>
        <p:spPr>
          <a:xfrm>
            <a:off x="8778240" y="49834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흐름 아이콘 2" descr="GP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5166360"/>
            <a:ext cx="365760" cy="365760"/>
          </a:xfrm>
          <a:prstGeom prst="rect">
            <a:avLst/>
          </a:prstGeom>
        </p:spPr>
      </p:pic>
      <p:sp>
        <p:nvSpPr>
          <p:cNvPr id="10" name="흐름 아이콘 원 3"/>
          <p:cNvSpPr/>
          <p:nvPr/>
        </p:nvSpPr>
        <p:spPr>
          <a:xfrm>
            <a:off x="9738360" y="4983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흐름 아이콘 3" descr="N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5166360"/>
            <a:ext cx="365760" cy="365760"/>
          </a:xfrm>
          <a:prstGeom prst="rect">
            <a:avLst/>
          </a:prstGeom>
        </p:spPr>
      </p:pic>
      <p:sp>
        <p:nvSpPr>
          <p:cNvPr id="12" name="흐름 아이콘 원 4"/>
          <p:cNvSpPr/>
          <p:nvPr/>
        </p:nvSpPr>
        <p:spPr>
          <a:xfrm>
            <a:off x="10698480" y="49834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흐름 아이콘 4" descr="표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51663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목차</a:t>
            </a:r>
            <a:endParaRPr lang="ko-KR" sz="2800" dirty="0"/>
          </a:p>
        </p:txBody>
      </p:sp>
      <p:sp>
        <p:nvSpPr>
          <p:cNvPr id="3" name="목차 카드 1"/>
          <p:cNvSpPr/>
          <p:nvPr/>
        </p:nvSpPr>
        <p:spPr>
          <a:xfrm>
            <a:off x="548640" y="1371600"/>
            <a:ext cx="11094415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목차 번호 원 1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목차 번호 1"/>
          <p:cNvSpPr txBox="1"/>
          <p:nvPr/>
        </p:nvSpPr>
        <p:spPr>
          <a:xfrm>
            <a:off x="8229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1</a:t>
            </a:r>
            <a:endParaRPr lang="ko-KR" sz="2200" dirty="0"/>
          </a:p>
        </p:txBody>
      </p:sp>
      <p:sp>
        <p:nvSpPr>
          <p:cNvPr id="6" name="목차 항목 1"/>
          <p:cNvSpPr txBox="1"/>
          <p:nvPr/>
        </p:nvSpPr>
        <p:spPr>
          <a:xfrm>
            <a:off x="1737360" y="1444752"/>
            <a:ext cx="80768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문제와 대상 시스템</a:t>
            </a:r>
            <a:endParaRPr lang="ko-KR" sz="16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400" dirty="0">
                <a:solidFill>
                  <a:schemeClr val="accent2"/>
                </a:solidFill>
              </a:rPr>
              <a:t>추론만 NPU로 옮겨도 CPU는 바쁘다 · 대상 시스템과 운용 기준 · 전체 구조</a:t>
            </a:r>
            <a:endParaRPr lang="ko-KR" sz="1600" dirty="0"/>
          </a:p>
        </p:txBody>
      </p:sp>
      <p:sp>
        <p:nvSpPr>
          <p:cNvPr id="7" name="목차 범위 1"/>
          <p:cNvSpPr txBox="1"/>
          <p:nvPr/>
        </p:nvSpPr>
        <p:spPr>
          <a:xfrm>
            <a:off x="9951415" y="144475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슬라이드 3~5</a:t>
            </a:r>
            <a:endParaRPr lang="ko-KR" sz="1400" dirty="0"/>
          </a:p>
        </p:txBody>
      </p:sp>
      <p:sp>
        <p:nvSpPr>
          <p:cNvPr id="8" name="목차 카드 2"/>
          <p:cNvSpPr/>
          <p:nvPr/>
        </p:nvSpPr>
        <p:spPr>
          <a:xfrm>
            <a:off x="548640" y="2514600"/>
            <a:ext cx="11094415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목차 번호 원 2"/>
          <p:cNvSpPr/>
          <p:nvPr/>
        </p:nvSpPr>
        <p:spPr>
          <a:xfrm>
            <a:off x="822960" y="26517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목차 번호 2"/>
          <p:cNvSpPr txBox="1"/>
          <p:nvPr/>
        </p:nvSpPr>
        <p:spPr>
          <a:xfrm>
            <a:off x="8229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2</a:t>
            </a:r>
            <a:endParaRPr lang="ko-KR" sz="2200" dirty="0"/>
          </a:p>
        </p:txBody>
      </p:sp>
      <p:sp>
        <p:nvSpPr>
          <p:cNvPr id="11" name="목차 항목 2"/>
          <p:cNvSpPr txBox="1"/>
          <p:nvPr/>
        </p:nvSpPr>
        <p:spPr>
          <a:xfrm>
            <a:off x="1737360" y="2587752"/>
            <a:ext cx="80768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CPU 최소화 기술 ①~⑤</a:t>
            </a:r>
            <a:endParaRPr lang="ko-KR" sz="16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400" dirty="0">
                <a:solidFill>
                  <a:schemeClr val="accent2"/>
                </a:solidFill>
              </a:rPr>
              <a:t>① 하드웨어 디코더 · ② NHCW 직접 생성 · ③ 결과 해석 · ④ 최저 지연 운용 · ⑤ 지휘만</a:t>
            </a:r>
            <a:endParaRPr lang="ko-KR" sz="1600" dirty="0"/>
          </a:p>
        </p:txBody>
      </p:sp>
      <p:sp>
        <p:nvSpPr>
          <p:cNvPr id="12" name="목차 범위 2"/>
          <p:cNvSpPr txBox="1"/>
          <p:nvPr/>
        </p:nvSpPr>
        <p:spPr>
          <a:xfrm>
            <a:off x="9951415" y="258775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슬라이드 6~10</a:t>
            </a:r>
            <a:endParaRPr lang="ko-KR" sz="1400" dirty="0"/>
          </a:p>
        </p:txBody>
      </p:sp>
      <p:sp>
        <p:nvSpPr>
          <p:cNvPr id="13" name="목차 카드 3"/>
          <p:cNvSpPr/>
          <p:nvPr/>
        </p:nvSpPr>
        <p:spPr>
          <a:xfrm>
            <a:off x="548640" y="3657600"/>
            <a:ext cx="11094415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목차 번호 원 3"/>
          <p:cNvSpPr/>
          <p:nvPr/>
        </p:nvSpPr>
        <p:spPr>
          <a:xfrm>
            <a:off x="822960" y="37947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목차 번호 3"/>
          <p:cNvSpPr txBox="1"/>
          <p:nvPr/>
        </p:nvSpPr>
        <p:spPr>
          <a:xfrm>
            <a:off x="82296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3</a:t>
            </a:r>
            <a:endParaRPr lang="ko-KR" sz="2200" dirty="0"/>
          </a:p>
        </p:txBody>
      </p:sp>
      <p:sp>
        <p:nvSpPr>
          <p:cNvPr id="16" name="목차 항목 3"/>
          <p:cNvSpPr txBox="1"/>
          <p:nvPr/>
        </p:nvSpPr>
        <p:spPr>
          <a:xfrm>
            <a:off x="1737360" y="3730752"/>
            <a:ext cx="80768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결과</a:t>
            </a:r>
            <a:endParaRPr lang="ko-KR" sz="16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400" dirty="0">
                <a:solidFill>
                  <a:schemeClr val="accent2"/>
                </a:solidFill>
              </a:rPr>
              <a:t>결과 요약</a:t>
            </a:r>
            <a:endParaRPr lang="ko-KR" sz="1600" dirty="0"/>
          </a:p>
        </p:txBody>
      </p:sp>
      <p:sp>
        <p:nvSpPr>
          <p:cNvPr id="17" name="목차 범위 3"/>
          <p:cNvSpPr txBox="1"/>
          <p:nvPr/>
        </p:nvSpPr>
        <p:spPr>
          <a:xfrm>
            <a:off x="9951415" y="373075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슬라이드 11</a:t>
            </a:r>
            <a:endParaRPr lang="ko-KR" sz="1400" dirty="0"/>
          </a:p>
        </p:txBody>
      </p:sp>
      <p:sp>
        <p:nvSpPr>
          <p:cNvPr id="18" name="목차 카드 4"/>
          <p:cNvSpPr/>
          <p:nvPr/>
        </p:nvSpPr>
        <p:spPr>
          <a:xfrm>
            <a:off x="548640" y="4800600"/>
            <a:ext cx="11094415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목차 번호 원 4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목차 번호 4"/>
          <p:cNvSpPr txBox="1"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4</a:t>
            </a:r>
            <a:endParaRPr lang="ko-KR" sz="2200" dirty="0"/>
          </a:p>
        </p:txBody>
      </p:sp>
      <p:sp>
        <p:nvSpPr>
          <p:cNvPr id="21" name="목차 항목 4"/>
          <p:cNvSpPr txBox="1"/>
          <p:nvPr/>
        </p:nvSpPr>
        <p:spPr>
          <a:xfrm>
            <a:off x="1737360" y="4873752"/>
            <a:ext cx="80768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결론</a:t>
            </a:r>
            <a:endParaRPr lang="ko-KR" sz="16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400" dirty="0">
                <a:solidFill>
                  <a:schemeClr val="accent2"/>
                </a:solidFill>
              </a:rPr>
              <a:t>CPU가 데이터를 읽지 않게 하는 것</a:t>
            </a:r>
            <a:endParaRPr lang="ko-KR" sz="1600" dirty="0"/>
          </a:p>
        </p:txBody>
      </p:sp>
      <p:sp>
        <p:nvSpPr>
          <p:cNvPr id="22" name="목차 범위 4"/>
          <p:cNvSpPr txBox="1"/>
          <p:nvPr/>
        </p:nvSpPr>
        <p:spPr>
          <a:xfrm>
            <a:off x="9951415" y="487375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슬라이드 12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문제 — 추론만 NPU로 옮겨도 CPU는 바쁘다</a:t>
            </a:r>
            <a:endParaRPr lang="ko-KR" sz="2800" dirty="0"/>
          </a:p>
        </p:txBody>
      </p:sp>
      <p:sp>
        <p:nvSpPr>
          <p:cNvPr id="3" name="흐름 라벨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한 프레임의 흐름</a:t>
            </a:r>
            <a:endParaRPr lang="ko-KR" sz="1200" dirty="0"/>
          </a:p>
        </p:txBody>
      </p:sp>
      <p:sp>
        <p:nvSpPr>
          <p:cNvPr id="4" name="단계 1"/>
          <p:cNvSpPr/>
          <p:nvPr/>
        </p:nvSpPr>
        <p:spPr>
          <a:xfrm>
            <a:off x="548640" y="160020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</p:sp>
      <p:pic>
        <p:nvPicPr>
          <p:cNvPr id="5" name="단계 아이콘 1" descr="디코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37360"/>
            <a:ext cx="365760" cy="365760"/>
          </a:xfrm>
          <a:prstGeom prst="rect">
            <a:avLst/>
          </a:prstGeom>
        </p:spPr>
      </p:pic>
      <p:sp>
        <p:nvSpPr>
          <p:cNvPr id="6" name="단계 라벨 1"/>
          <p:cNvSpPr txBox="1"/>
          <p:nvPr/>
        </p:nvSpPr>
        <p:spPr>
          <a:xfrm>
            <a:off x="621792" y="214884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디코드</a:t>
            </a:r>
            <a:endParaRPr lang="ko-KR" sz="1500" dirty="0"/>
          </a:p>
        </p:txBody>
      </p:sp>
      <p:sp>
        <p:nvSpPr>
          <p:cNvPr id="7" name="담당 1"/>
          <p:cNvSpPr txBox="1"/>
          <p:nvPr/>
        </p:nvSpPr>
        <p:spPr>
          <a:xfrm>
            <a:off x="54864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accent2"/>
                </a:solidFill>
              </a:rPr>
              <a:t>CPU 담당</a:t>
            </a:r>
            <a:endParaRPr lang="ko-KR" sz="1300" dirty="0"/>
          </a:p>
        </p:txBody>
      </p:sp>
      <p:sp>
        <p:nvSpPr>
          <p:cNvPr id="8" name="화살표 1"/>
          <p:cNvSpPr/>
          <p:nvPr/>
        </p:nvSpPr>
        <p:spPr>
          <a:xfrm>
            <a:off x="2450592" y="2194560"/>
            <a:ext cx="341300" cy="0"/>
          </a:xfrm>
          <a:prstGeom prst="line">
            <a:avLst/>
          </a:prstGeom>
          <a:noFill/>
          <a:ln w="25400">
            <a:solidFill>
              <a:srgbClr val="9AAABB"/>
            </a:solidFill>
            <a:prstDash val="solid"/>
            <a:tailEnd type="triangle"/>
          </a:ln>
        </p:spPr>
      </p:sp>
      <p:sp>
        <p:nvSpPr>
          <p:cNvPr id="9" name="단계 2"/>
          <p:cNvSpPr/>
          <p:nvPr/>
        </p:nvSpPr>
        <p:spPr>
          <a:xfrm>
            <a:off x="2865044" y="160020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</p:sp>
      <p:pic>
        <p:nvPicPr>
          <p:cNvPr id="10" name="단계 아이콘 2" descr="크기·색·형식 변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564" y="1737360"/>
            <a:ext cx="365760" cy="365760"/>
          </a:xfrm>
          <a:prstGeom prst="rect">
            <a:avLst/>
          </a:prstGeom>
        </p:spPr>
      </p:pic>
      <p:sp>
        <p:nvSpPr>
          <p:cNvPr id="11" name="단계 라벨 2"/>
          <p:cNvSpPr txBox="1"/>
          <p:nvPr/>
        </p:nvSpPr>
        <p:spPr>
          <a:xfrm>
            <a:off x="2938196" y="214884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크기·색·형식 변환</a:t>
            </a:r>
            <a:endParaRPr lang="ko-KR" sz="1500" dirty="0"/>
          </a:p>
        </p:txBody>
      </p:sp>
      <p:sp>
        <p:nvSpPr>
          <p:cNvPr id="12" name="담당 2"/>
          <p:cNvSpPr txBox="1"/>
          <p:nvPr/>
        </p:nvSpPr>
        <p:spPr>
          <a:xfrm>
            <a:off x="2865044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accent2"/>
                </a:solidFill>
              </a:rPr>
              <a:t>CPU 담당</a:t>
            </a:r>
            <a:endParaRPr lang="ko-KR" sz="1300" dirty="0"/>
          </a:p>
        </p:txBody>
      </p:sp>
      <p:sp>
        <p:nvSpPr>
          <p:cNvPr id="13" name="화살표 2"/>
          <p:cNvSpPr/>
          <p:nvPr/>
        </p:nvSpPr>
        <p:spPr>
          <a:xfrm>
            <a:off x="4766996" y="2194560"/>
            <a:ext cx="341300" cy="0"/>
          </a:xfrm>
          <a:prstGeom prst="line">
            <a:avLst/>
          </a:prstGeom>
          <a:noFill/>
          <a:ln w="25400">
            <a:solidFill>
              <a:srgbClr val="9AAABB"/>
            </a:solidFill>
            <a:prstDash val="solid"/>
            <a:tailEnd type="triangle"/>
          </a:ln>
        </p:spPr>
      </p:sp>
      <p:sp>
        <p:nvSpPr>
          <p:cNvPr id="14" name="단계 3"/>
          <p:cNvSpPr/>
          <p:nvPr/>
        </p:nvSpPr>
        <p:spPr>
          <a:xfrm>
            <a:off x="5181448" y="160020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</p:sp>
      <p:pic>
        <p:nvPicPr>
          <p:cNvPr id="15" name="단계 아이콘 3" descr="추론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1737360"/>
            <a:ext cx="365760" cy="365760"/>
          </a:xfrm>
          <a:prstGeom prst="rect">
            <a:avLst/>
          </a:prstGeom>
        </p:spPr>
      </p:pic>
      <p:sp>
        <p:nvSpPr>
          <p:cNvPr id="16" name="단계 라벨 3"/>
          <p:cNvSpPr txBox="1"/>
          <p:nvPr/>
        </p:nvSpPr>
        <p:spPr>
          <a:xfrm>
            <a:off x="5254600" y="214884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추론</a:t>
            </a:r>
            <a:endParaRPr lang="ko-KR" sz="1500" dirty="0"/>
          </a:p>
        </p:txBody>
      </p:sp>
      <p:sp>
        <p:nvSpPr>
          <p:cNvPr id="17" name="담당 3"/>
          <p:cNvSpPr txBox="1"/>
          <p:nvPr/>
        </p:nvSpPr>
        <p:spPr>
          <a:xfrm>
            <a:off x="5181448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NPU 담당</a:t>
            </a:r>
            <a:endParaRPr lang="ko-KR" sz="1300" dirty="0"/>
          </a:p>
        </p:txBody>
      </p:sp>
      <p:sp>
        <p:nvSpPr>
          <p:cNvPr id="18" name="화살표 3"/>
          <p:cNvSpPr/>
          <p:nvPr/>
        </p:nvSpPr>
        <p:spPr>
          <a:xfrm>
            <a:off x="7083400" y="2194560"/>
            <a:ext cx="341300" cy="0"/>
          </a:xfrm>
          <a:prstGeom prst="line">
            <a:avLst/>
          </a:prstGeom>
          <a:noFill/>
          <a:ln w="25400">
            <a:solidFill>
              <a:srgbClr val="9AAABB"/>
            </a:solidFill>
            <a:prstDash val="solid"/>
            <a:tailEnd type="triangle"/>
          </a:ln>
        </p:spPr>
      </p:sp>
      <p:sp>
        <p:nvSpPr>
          <p:cNvPr id="19" name="단계 4"/>
          <p:cNvSpPr/>
          <p:nvPr/>
        </p:nvSpPr>
        <p:spPr>
          <a:xfrm>
            <a:off x="7497851" y="160020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</p:sp>
      <p:pic>
        <p:nvPicPr>
          <p:cNvPr id="20" name="단계 아이콘 4" descr="결과 해석 (박스 복원·NMS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371" y="1737360"/>
            <a:ext cx="365760" cy="365760"/>
          </a:xfrm>
          <a:prstGeom prst="rect">
            <a:avLst/>
          </a:prstGeom>
        </p:spPr>
      </p:pic>
      <p:sp>
        <p:nvSpPr>
          <p:cNvPr id="21" name="단계 라벨 4"/>
          <p:cNvSpPr txBox="1"/>
          <p:nvPr/>
        </p:nvSpPr>
        <p:spPr>
          <a:xfrm>
            <a:off x="7571003" y="214884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결과 해석</a:t>
            </a:r>
            <a:endParaRPr lang="ko-KR" sz="1500" dirty="0"/>
          </a:p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(박스 복원·NMS)</a:t>
            </a:r>
            <a:endParaRPr lang="ko-KR" sz="1500" dirty="0"/>
          </a:p>
        </p:txBody>
      </p:sp>
      <p:sp>
        <p:nvSpPr>
          <p:cNvPr id="22" name="담당 4"/>
          <p:cNvSpPr txBox="1"/>
          <p:nvPr/>
        </p:nvSpPr>
        <p:spPr>
          <a:xfrm>
            <a:off x="7497851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accent2"/>
                </a:solidFill>
              </a:rPr>
              <a:t>CPU 담당</a:t>
            </a:r>
            <a:endParaRPr lang="ko-KR" sz="1300" dirty="0"/>
          </a:p>
        </p:txBody>
      </p:sp>
      <p:sp>
        <p:nvSpPr>
          <p:cNvPr id="23" name="화살표 4"/>
          <p:cNvSpPr/>
          <p:nvPr/>
        </p:nvSpPr>
        <p:spPr>
          <a:xfrm>
            <a:off x="9399803" y="2194560"/>
            <a:ext cx="341300" cy="0"/>
          </a:xfrm>
          <a:prstGeom prst="line">
            <a:avLst/>
          </a:prstGeom>
          <a:noFill/>
          <a:ln w="25400">
            <a:solidFill>
              <a:srgbClr val="9AAABB"/>
            </a:solidFill>
            <a:prstDash val="solid"/>
            <a:tailEnd type="triangle"/>
          </a:ln>
        </p:spPr>
      </p:sp>
      <p:sp>
        <p:nvSpPr>
          <p:cNvPr id="24" name="단계 5"/>
          <p:cNvSpPr/>
          <p:nvPr/>
        </p:nvSpPr>
        <p:spPr>
          <a:xfrm>
            <a:off x="9814255" y="160020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</p:sp>
      <p:pic>
        <p:nvPicPr>
          <p:cNvPr id="25" name="단계 아이콘 5" descr="표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5775" y="1737360"/>
            <a:ext cx="365760" cy="365760"/>
          </a:xfrm>
          <a:prstGeom prst="rect">
            <a:avLst/>
          </a:prstGeom>
        </p:spPr>
      </p:pic>
      <p:sp>
        <p:nvSpPr>
          <p:cNvPr id="26" name="단계 라벨 5"/>
          <p:cNvSpPr txBox="1"/>
          <p:nvPr/>
        </p:nvSpPr>
        <p:spPr>
          <a:xfrm>
            <a:off x="9887407" y="214884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표시</a:t>
            </a:r>
            <a:endParaRPr lang="ko-KR" sz="1500" dirty="0"/>
          </a:p>
        </p:txBody>
      </p:sp>
      <p:sp>
        <p:nvSpPr>
          <p:cNvPr id="27" name="담당 5"/>
          <p:cNvSpPr txBox="1"/>
          <p:nvPr/>
        </p:nvSpPr>
        <p:spPr>
          <a:xfrm>
            <a:off x="9814255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accent2"/>
                </a:solidFill>
              </a:rPr>
              <a:t>CPU 담당</a:t>
            </a:r>
            <a:endParaRPr lang="ko-KR" sz="1300" dirty="0"/>
          </a:p>
        </p:txBody>
      </p:sp>
      <p:sp>
        <p:nvSpPr>
          <p:cNvPr id="28" name="본문"/>
          <p:cNvSpPr txBox="1"/>
          <p:nvPr/>
        </p:nvSpPr>
        <p:spPr>
          <a:xfrm>
            <a:off x="548640" y="3520440"/>
            <a:ext cx="6675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추론만 NPU가 맡으면 나머지는 CPU가 하며, 프레임마다 수 MB를 읽고 쓴다</a:t>
            </a:r>
            <a:endParaRPr lang="ko-KR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스마트폰·서버에서도 추론 밖 전·후처리와 데이터 이동이 종단간 성능을 좌우한다는 보고가 있다 [1][2]</a:t>
            </a:r>
            <a:endParaRPr lang="ko-KR" sz="1600" dirty="0"/>
          </a:p>
        </p:txBody>
      </p:sp>
      <p:sp>
        <p:nvSpPr>
          <p:cNvPr id="29" name="출발점 카드"/>
          <p:cNvSpPr/>
          <p:nvPr/>
        </p:nvSpPr>
        <p:spPr>
          <a:xfrm>
            <a:off x="7680960" y="3520440"/>
            <a:ext cx="3962095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30" name="출발점 수치"/>
          <p:cNvSpPr txBox="1"/>
          <p:nvPr/>
        </p:nvSpPr>
        <p:spPr>
          <a:xfrm>
            <a:off x="7955280" y="3749040"/>
            <a:ext cx="34134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출발점 · 배치 1 응용 CPU</a:t>
            </a:r>
            <a:endParaRPr lang="ko-KR" sz="1600" dirty="0"/>
          </a:p>
          <a:p>
            <a:pPr indent="0" marL="0">
              <a:buNone/>
            </a:pPr>
            <a:r>
              <a:rPr lang="ko-KR" altLang="en-US" sz="6000" b="1" dirty="0">
                <a:solidFill>
                  <a:schemeClr val="accent1"/>
                </a:solidFill>
              </a:rPr>
              <a:t>17.6</a:t>
            </a:r>
            <a:r>
              <a:rPr lang="ko-KR" altLang="en-US" sz="2000" b="1" dirty="0">
                <a:solidFill>
                  <a:schemeClr val="accent1"/>
                </a:solidFill>
              </a:rPr>
              <a:t> ms/프레임</a:t>
            </a:r>
            <a:endParaRPr lang="ko-KR" sz="1600" dirty="0"/>
          </a:p>
          <a:p>
            <a:pPr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한 코어의 40% 이상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대상 시스템과 운용 기준</a:t>
            </a:r>
            <a:endParaRPr lang="ko-KR" sz="2800" dirty="0"/>
          </a:p>
        </p:txBody>
      </p:sp>
      <p:sp>
        <p:nvSpPr>
          <p:cNvPr id="3" name="시스템 카드 보드"/>
          <p:cNvSpPr/>
          <p:nvPr/>
        </p:nvSpPr>
        <p:spPr>
          <a:xfrm>
            <a:off x="54864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아이콘 원 보드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아이콘 보드" descr="보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365760" cy="365760"/>
          </a:xfrm>
          <a:prstGeom prst="rect">
            <a:avLst/>
          </a:prstGeom>
        </p:spPr>
      </p:pic>
      <p:sp>
        <p:nvSpPr>
          <p:cNvPr id="6" name="라벨 보드"/>
          <p:cNvSpPr txBox="1"/>
          <p:nvPr/>
        </p:nvSpPr>
        <p:spPr>
          <a:xfrm>
            <a:off x="1645920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2"/>
                </a:solidFill>
              </a:rPr>
              <a:t>보드</a:t>
            </a:r>
            <a:endParaRPr lang="ko-KR" sz="1600" dirty="0"/>
          </a:p>
        </p:txBody>
      </p:sp>
      <p:sp>
        <p:nvSpPr>
          <p:cNvPr id="7" name="값 보드"/>
          <p:cNvSpPr txBox="1"/>
          <p:nvPr/>
        </p:nvSpPr>
        <p:spPr>
          <a:xfrm>
            <a:off x="822960" y="24231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Raspberry Pi Compute Module 5 [3]</a:t>
            </a:r>
            <a:endParaRPr lang="ko-KR" sz="1800" dirty="0"/>
          </a:p>
        </p:txBody>
      </p:sp>
      <p:sp>
        <p:nvSpPr>
          <p:cNvPr id="8" name="시스템 카드 NPU"/>
          <p:cNvSpPr/>
          <p:nvPr/>
        </p:nvSpPr>
        <p:spPr>
          <a:xfrm>
            <a:off x="411480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아이콘 원 NPU"/>
          <p:cNvSpPr/>
          <p:nvPr/>
        </p:nvSpPr>
        <p:spPr>
          <a:xfrm>
            <a:off x="4389120" y="164592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아이콘 NPU" descr="NP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83080"/>
            <a:ext cx="365760" cy="365760"/>
          </a:xfrm>
          <a:prstGeom prst="rect">
            <a:avLst/>
          </a:prstGeom>
        </p:spPr>
      </p:pic>
      <p:sp>
        <p:nvSpPr>
          <p:cNvPr id="11" name="라벨 NPU"/>
          <p:cNvSpPr txBox="1"/>
          <p:nvPr/>
        </p:nvSpPr>
        <p:spPr>
          <a:xfrm>
            <a:off x="5212080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2"/>
                </a:solidFill>
              </a:rPr>
              <a:t>NPU</a:t>
            </a:r>
            <a:endParaRPr lang="ko-KR" sz="1600" dirty="0"/>
          </a:p>
        </p:txBody>
      </p:sp>
      <p:sp>
        <p:nvSpPr>
          <p:cNvPr id="12" name="값 NPU"/>
          <p:cNvSpPr txBox="1"/>
          <p:nvPr/>
        </p:nvSpPr>
        <p:spPr>
          <a:xfrm>
            <a:off x="4389120" y="24231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Hailo-8 (PCIe)</a:t>
            </a:r>
            <a:endParaRPr lang="ko-KR" sz="1800" dirty="0"/>
          </a:p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런타임 HailoRT 4.24.0 [4]</a:t>
            </a:r>
            <a:endParaRPr lang="ko-KR" sz="1800" dirty="0"/>
          </a:p>
        </p:txBody>
      </p:sp>
      <p:sp>
        <p:nvSpPr>
          <p:cNvPr id="13" name="시스템 카드 모델"/>
          <p:cNvSpPr/>
          <p:nvPr/>
        </p:nvSpPr>
        <p:spPr>
          <a:xfrm>
            <a:off x="548640" y="3840480"/>
            <a:ext cx="32918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아이콘 원 모델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아이콘 모델" descr="모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51960"/>
            <a:ext cx="365760" cy="365760"/>
          </a:xfrm>
          <a:prstGeom prst="rect">
            <a:avLst/>
          </a:prstGeom>
        </p:spPr>
      </p:pic>
      <p:sp>
        <p:nvSpPr>
          <p:cNvPr id="16" name="라벨 모델"/>
          <p:cNvSpPr txBox="1"/>
          <p:nvPr/>
        </p:nvSpPr>
        <p:spPr>
          <a:xfrm>
            <a:off x="1645920" y="4114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2"/>
                </a:solidFill>
              </a:rPr>
              <a:t>모델</a:t>
            </a:r>
            <a:endParaRPr lang="ko-KR" sz="1600" dirty="0"/>
          </a:p>
        </p:txBody>
      </p:sp>
      <p:sp>
        <p:nvSpPr>
          <p:cNvPr id="17" name="값 모델"/>
          <p:cNvSpPr txBox="1"/>
          <p:nvPr/>
        </p:nvSpPr>
        <p:spPr>
          <a:xfrm>
            <a:off x="822960" y="48920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YOLO11m [5]</a:t>
            </a:r>
            <a:endParaRPr lang="ko-KR" sz="1800" dirty="0"/>
          </a:p>
        </p:txBody>
      </p:sp>
      <p:sp>
        <p:nvSpPr>
          <p:cNvPr id="18" name="시스템 카드 입력"/>
          <p:cNvSpPr/>
          <p:nvPr/>
        </p:nvSpPr>
        <p:spPr>
          <a:xfrm>
            <a:off x="4114800" y="3840480"/>
            <a:ext cx="32918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9" name="아이콘 원 입력"/>
          <p:cNvSpPr/>
          <p:nvPr/>
        </p:nvSpPr>
        <p:spPr>
          <a:xfrm>
            <a:off x="4389120" y="411480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" name="아이콘 입력" descr="입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251960"/>
            <a:ext cx="365760" cy="365760"/>
          </a:xfrm>
          <a:prstGeom prst="rect">
            <a:avLst/>
          </a:prstGeom>
        </p:spPr>
      </p:pic>
      <p:sp>
        <p:nvSpPr>
          <p:cNvPr id="21" name="라벨 입력"/>
          <p:cNvSpPr txBox="1"/>
          <p:nvPr/>
        </p:nvSpPr>
        <p:spPr>
          <a:xfrm>
            <a:off x="5212080" y="4114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2"/>
                </a:solidFill>
              </a:rPr>
              <a:t>입력</a:t>
            </a:r>
            <a:endParaRPr lang="ko-KR" sz="1600" dirty="0"/>
          </a:p>
        </p:txBody>
      </p:sp>
      <p:sp>
        <p:nvSpPr>
          <p:cNvPr id="22" name="값 입력"/>
          <p:cNvSpPr txBox="1"/>
          <p:nvPr/>
        </p:nvSpPr>
        <p:spPr>
          <a:xfrm>
            <a:off x="4389120" y="48920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HEVC 영상</a:t>
            </a:r>
            <a:endParaRPr lang="ko-KR" sz="1800" dirty="0"/>
          </a:p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(SoC 하드웨어 디코더)</a:t>
            </a:r>
            <a:endParaRPr lang="ko-KR" sz="1800" dirty="0"/>
          </a:p>
        </p:txBody>
      </p:sp>
      <p:sp>
        <p:nvSpPr>
          <p:cNvPr id="23" name="운용 기준 패널"/>
          <p:cNvSpPr/>
          <p:nvPr/>
        </p:nvSpPr>
        <p:spPr>
          <a:xfrm>
            <a:off x="7772400" y="1371600"/>
            <a:ext cx="3870655" cy="4663440"/>
          </a:xfrm>
          <a:prstGeom prst="roundRect">
            <a:avLst>
              <a:gd name="adj" fmla="val 1890"/>
            </a:avLst>
          </a:prstGeom>
          <a:solidFill>
            <a:schemeClr val="tx2"/>
          </a:solidFill>
          <a:ln/>
        </p:spPr>
      </p:sp>
      <p:pic>
        <p:nvPicPr>
          <p:cNvPr id="24" name="운용 기준 아이콘" descr="지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240280"/>
            <a:ext cx="548640" cy="548640"/>
          </a:xfrm>
          <a:prstGeom prst="rect">
            <a:avLst/>
          </a:prstGeom>
        </p:spPr>
      </p:pic>
      <p:sp>
        <p:nvSpPr>
          <p:cNvPr id="25" name="운용 기준 문구"/>
          <p:cNvSpPr txBox="1"/>
          <p:nvPr/>
        </p:nvSpPr>
        <p:spPr>
          <a:xfrm>
            <a:off x="8138160" y="2971800"/>
            <a:ext cx="32305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chemeClr val="accent3"/>
                </a:solidFill>
              </a:rPr>
              <a:t>운용 기준</a:t>
            </a:r>
            <a:endParaRPr lang="ko-KR" sz="16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chemeClr val="bg1"/>
                </a:solidFill>
              </a:rPr>
              <a:t>처리량(FPS)이 아니라</a:t>
            </a:r>
            <a:endParaRPr lang="ko-KR" sz="16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4400" b="1" dirty="0">
                <a:solidFill>
                  <a:schemeClr val="accent6"/>
                </a:solidFill>
              </a:rPr>
              <a:t>최저 지연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전체 구조 — 데이터는 하드웨어끼리, CPU는 지휘만</a:t>
            </a:r>
            <a:endParaRPr lang="ko-KR" sz="2800" dirty="0"/>
          </a:p>
        </p:txBody>
      </p:sp>
      <p:pic>
        <p:nvPicPr>
          <p:cNvPr id="3" name="그림 1 전체 구조" descr="그림 1. CPU 최소화 기술의 전체 구조: 영상 입력 → 하드웨어 디코더 → GPU 전처리(NHCW) → NPU → GPU 후처리(NMS) → 화면, CPU는 점선으로 제어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1188720"/>
            <a:ext cx="10241280" cy="4638921"/>
          </a:xfrm>
          <a:prstGeom prst="rect">
            <a:avLst/>
          </a:prstGeom>
        </p:spPr>
      </p:pic>
      <p:sp>
        <p:nvSpPr>
          <p:cNvPr id="4" name="그림 캡션"/>
          <p:cNvSpPr txBox="1"/>
          <p:nvPr/>
        </p:nvSpPr>
        <p:spPr>
          <a:xfrm>
            <a:off x="975208" y="5919081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2"/>
                </a:solidFill>
              </a:rPr>
              <a:t>굵은 실선 = dma-buf로 복사 없이 넘기는 데이터 · 가는 실선 = CPU를 거치는 작은 데이터 · 점선 = CPU 제어 · ①~⑤ = 다섯 기술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① 하드웨어 디코더 + 제로 카피(dma-buf)</a:t>
            </a:r>
            <a:endParaRPr lang="ko-KR" sz="2800" dirty="0"/>
          </a:p>
        </p:txBody>
      </p:sp>
      <p:sp>
        <p:nvSpPr>
          <p:cNvPr id="3" name="본문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HEVC 하드웨어 디코더로 풀고(FFmpeg 하드웨어 경로 [9]), 출력은 dma-buf로 GPU에 바로 넘긴다 [8]</a:t>
            </a:r>
            <a:endParaRPr lang="ko-KR" sz="1600" dirty="0"/>
          </a:p>
        </p:txBody>
      </p:sp>
      <p:graphicFrame>
        <p:nvGraphicFramePr>
          <p:cNvPr id="4" name="차트 (a) 소프트웨어 대 하드웨어 디코드" descr=""/>
          <p:cNvGraphicFramePr/>
          <p:nvPr/>
        </p:nvGraphicFramePr>
        <p:xfrm>
          <a:off x="548640" y="1783080"/>
          <a:ext cx="5364328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값 라벨 31.8"/>
          <p:cNvSpPr txBox="1"/>
          <p:nvPr/>
        </p:nvSpPr>
        <p:spPr>
          <a:xfrm>
            <a:off x="4881555" y="270593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31.8</a:t>
            </a:r>
            <a:endParaRPr lang="ko-KR" sz="1600" dirty="0"/>
          </a:p>
        </p:txBody>
      </p:sp>
      <p:sp>
        <p:nvSpPr>
          <p:cNvPr id="6" name="값 라벨 0.23~0.28"/>
          <p:cNvSpPr txBox="1"/>
          <p:nvPr/>
        </p:nvSpPr>
        <p:spPr>
          <a:xfrm>
            <a:off x="2768010" y="3842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0.23~0.28</a:t>
            </a:r>
            <a:endParaRPr lang="ko-KR" sz="1600" dirty="0"/>
          </a:p>
        </p:txBody>
      </p:sp>
      <p:graphicFrame>
        <p:nvGraphicFramePr>
          <p:cNvPr id="7" name="차트 (b) 하드웨어 출력 경로별" descr=""/>
          <p:cNvGraphicFramePr/>
          <p:nvPr/>
        </p:nvGraphicFramePr>
        <p:xfrm>
          <a:off x="6278728" y="1783080"/>
          <a:ext cx="5364328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값 라벨 2.02"/>
          <p:cNvSpPr txBox="1"/>
          <p:nvPr/>
        </p:nvSpPr>
        <p:spPr>
          <a:xfrm>
            <a:off x="10646511" y="2516581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2.02</a:t>
            </a:r>
            <a:endParaRPr lang="ko-KR" sz="1600" dirty="0"/>
          </a:p>
        </p:txBody>
      </p:sp>
      <p:sp>
        <p:nvSpPr>
          <p:cNvPr id="9" name="값 라벨 0.55"/>
          <p:cNvSpPr txBox="1"/>
          <p:nvPr/>
        </p:nvSpPr>
        <p:spPr>
          <a:xfrm>
            <a:off x="9069399" y="3274009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0.55</a:t>
            </a:r>
            <a:endParaRPr lang="ko-KR" sz="1600" dirty="0"/>
          </a:p>
        </p:txBody>
      </p:sp>
      <p:sp>
        <p:nvSpPr>
          <p:cNvPr id="10" name="값 라벨 0.23~0.28"/>
          <p:cNvSpPr txBox="1"/>
          <p:nvPr/>
        </p:nvSpPr>
        <p:spPr>
          <a:xfrm>
            <a:off x="8779725" y="4031437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0.23~0.28</a:t>
            </a:r>
            <a:endParaRPr lang="ko-KR" sz="1600" dirty="0"/>
          </a:p>
        </p:txBody>
      </p:sp>
      <p:pic>
        <p:nvPicPr>
          <p:cNvPr id="11" name="메시지 아이콘" descr="한 줄 메시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84648"/>
            <a:ext cx="320040" cy="320040"/>
          </a:xfrm>
          <a:prstGeom prst="rect">
            <a:avLst/>
          </a:prstGeom>
        </p:spPr>
      </p:pic>
      <p:sp>
        <p:nvSpPr>
          <p:cNvPr id="12" name="한 줄 메시지"/>
          <p:cNvSpPr txBox="1"/>
          <p:nvPr/>
        </p:nvSpPr>
        <p:spPr>
          <a:xfrm>
            <a:off x="1005840" y="5138928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같은 하드웨어 디코드라도 </a:t>
            </a:r>
            <a:r>
              <a:rPr lang="ko-KR" altLang="en-US" sz="1500" b="1" dirty="0">
                <a:solidFill>
                  <a:schemeClr val="accent1"/>
                </a:solidFill>
              </a:rPr>
              <a:t>CPU로 내려받으면 약 3.6배</a:t>
            </a:r>
            <a:r>
              <a:rPr lang="ko-KR" altLang="en-US" sz="1500" dirty="0">
                <a:solidFill>
                  <a:schemeClr val="tx1"/>
                </a:solidFill>
              </a:rPr>
              <a:t> (명령행 기준 2.02 대 0.55 ms) — 비용은 디코드가 아니라 복사</a:t>
            </a:r>
            <a:endParaRPr lang="ko-KR" sz="1500" dirty="0"/>
          </a:p>
        </p:txBody>
      </p:sp>
      <p:sp>
        <p:nvSpPr>
          <p:cNvPr id="13" name="각주"/>
          <p:cNvSpPr txBox="1"/>
          <p:nvPr/>
        </p:nvSpPr>
        <p:spPr>
          <a:xfrm>
            <a:off x="548640" y="56418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ko-KR" altLang="en-US" sz="1000" dirty="0">
                <a:solidFill>
                  <a:schemeClr val="accent2"/>
                </a:solidFill>
              </a:rPr>
              <a:t>(a)의 소프트웨어 값은 GStreamer avdec_h265 측정(2026-09-20), 하드웨어 값은 ffmpeg 명령행·응용 측정(2026-09-29 이후)으로 측정 날짜·도구가 다르다. 모두 1080p HEVC 1,816프레임, 디코드만, 3회 중앙값</a:t>
            </a:r>
            <a:endParaRPr lang="ko-KR" sz="16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ko-KR" altLang="en-US" sz="1000" dirty="0">
                <a:solidFill>
                  <a:schemeClr val="accent2"/>
                </a:solidFill>
              </a:rPr>
              <a:t>소프트웨어 = avdec_h265 자동 스레드 · 명령행 = ffmpeg (내려받음: 출력 형식 미지정 → yuv420p, 유지: DRM_PRIME) · 응용 = libavcodec DRM_PRIME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② NPU가 원하는 형식(NHCW)을 GPU가 바로 만든다</a:t>
            </a:r>
            <a:endParaRPr lang="ko-KR" sz="2800" dirty="0"/>
          </a:p>
        </p:txBody>
      </p:sp>
      <p:sp>
        <p:nvSpPr>
          <p:cNvPr id="3" name="본문 위"/>
          <p:cNvSpPr txBox="1"/>
          <p:nvPr/>
        </p:nvSpPr>
        <p:spPr>
          <a:xfrm>
            <a:off x="548640" y="132588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NPU는 칩 내부 배치 NHCW를 쓴다. NHWC로 넘기면 런타임이 CPU에서 변환한다</a:t>
            </a:r>
            <a:endParaRPr lang="ko-KR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원인은 연산이 아니라 </a:t>
            </a:r>
            <a:r>
              <a:rPr lang="ko-KR" altLang="en-US" sz="1600" b="1" dirty="0">
                <a:solidFill>
                  <a:schemeClr val="tx1"/>
                </a:solidFill>
              </a:rPr>
              <a:t>캐시되지 않는 GPU 메모리를 CPU가 바이트 단위로 읽는 것</a:t>
            </a:r>
            <a:endParaRPr lang="ko-KR" sz="1600" dirty="0"/>
          </a:p>
        </p:txBody>
      </p:sp>
      <p:sp>
        <p:nvSpPr>
          <p:cNvPr id="4" name="전치 루프 라벨"/>
          <p:cNvSpPr txBox="1"/>
          <p:nvPr/>
        </p:nvSpPr>
        <p:spPr>
          <a:xfrm>
            <a:off x="8229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같은 전치 루프 단독</a:t>
            </a:r>
            <a:endParaRPr lang="ko-KR" sz="1400" dirty="0"/>
          </a:p>
        </p:txBody>
      </p:sp>
      <p:sp>
        <p:nvSpPr>
          <p:cNvPr id="5" name="전치 루프 일반 메모리"/>
          <p:cNvSpPr/>
          <p:nvPr/>
        </p:nvSpPr>
        <p:spPr>
          <a:xfrm>
            <a:off x="822960" y="3246120"/>
            <a:ext cx="27889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6" name="전치 루프 값 일반 메모리"/>
          <p:cNvSpPr txBox="1"/>
          <p:nvPr/>
        </p:nvSpPr>
        <p:spPr>
          <a:xfrm>
            <a:off x="1051560" y="32461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일반 메모리  </a:t>
            </a:r>
            <a:r>
              <a:rPr lang="ko-KR" altLang="en-US" sz="2600" b="1" dirty="0">
                <a:solidFill>
                  <a:schemeClr val="tx1"/>
                </a:solidFill>
              </a:rPr>
              <a:t>0.95 ms</a:t>
            </a:r>
            <a:endParaRPr lang="ko-KR" sz="1600" dirty="0"/>
          </a:p>
        </p:txBody>
      </p:sp>
      <p:sp>
        <p:nvSpPr>
          <p:cNvPr id="7" name="전치 루프 GPU 메모리"/>
          <p:cNvSpPr/>
          <p:nvPr/>
        </p:nvSpPr>
        <p:spPr>
          <a:xfrm>
            <a:off x="3886200" y="3246120"/>
            <a:ext cx="27889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8" name="전치 루프 값 GPU 메모리"/>
          <p:cNvSpPr txBox="1"/>
          <p:nvPr/>
        </p:nvSpPr>
        <p:spPr>
          <a:xfrm>
            <a:off x="4114800" y="32461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GPU 메모리  </a:t>
            </a:r>
            <a:r>
              <a:rPr lang="ko-KR" altLang="en-US" sz="2600" b="1" dirty="0">
                <a:solidFill>
                  <a:schemeClr val="accent1"/>
                </a:solidFill>
              </a:rPr>
              <a:t>12.7 ms</a:t>
            </a:r>
            <a:endParaRPr lang="ko-KR" sz="1600" dirty="0"/>
          </a:p>
        </p:txBody>
      </p:sp>
      <p:sp>
        <p:nvSpPr>
          <p:cNvPr id="9" name="본문 아래"/>
          <p:cNvSpPr txBox="1"/>
          <p:nvPr/>
        </p:nvSpPr>
        <p:spPr>
          <a:xfrm>
            <a:off x="548640" y="434340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해법: Vulkan 전처리 셰이더 [10]가 GPU(V3D [11])에서 처음부터 NHCW로 쓴다</a:t>
            </a:r>
            <a:endParaRPr lang="ko-KR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결과: 배치 1 응용 CPU </a:t>
            </a:r>
            <a:r>
              <a:rPr lang="ko-KR" altLang="en-US" sz="1600" b="1" dirty="0">
                <a:solidFill>
                  <a:schemeClr val="accent1"/>
                </a:solidFill>
              </a:rPr>
              <a:t>17.6 → 3.3 ms/프레임</a:t>
            </a:r>
            <a:endParaRPr lang="ko-KR" sz="1600" dirty="0"/>
          </a:p>
        </p:txBody>
      </p:sp>
      <p:graphicFrame>
        <p:nvGraphicFramePr>
          <p:cNvPr id="10" name="차트 응용 CPU 17.6 대 3.3" descr=""/>
          <p:cNvGraphicFramePr/>
          <p:nvPr/>
        </p:nvGraphicFramePr>
        <p:xfrm>
          <a:off x="7086600" y="1280160"/>
          <a:ext cx="4556455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각주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2"/>
                </a:solidFill>
              </a:rPr>
              <a:t>측정 조건: GPU 960 MHz · 디코더 자동 스레드 · 배치 1/슬롯 2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③ 결과 해석(박스 복원 + NMS)도 GPU로</a:t>
            </a:r>
            <a:endParaRPr lang="ko-KR" sz="2800" dirty="0"/>
          </a:p>
        </p:txBody>
      </p:sp>
      <p:graphicFrame>
        <p:nvGraphicFramePr>
          <p:cNvPr id="3" name="차트 응용 CPU 3.25 대 0.94" descr=""/>
          <p:cNvGraphicFramePr/>
          <p:nvPr/>
        </p:nvGraphicFramePr>
        <p:xfrm>
          <a:off x="548640" y="1280160"/>
          <a:ext cx="45720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본문"/>
          <p:cNvSpPr txBox="1"/>
          <p:nvPr/>
        </p:nvSpPr>
        <p:spPr>
          <a:xfrm>
            <a:off x="5577840" y="1325880"/>
            <a:ext cx="60652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NPU 원시 출력도 dma-buf로 GPU에 넘기고, GPU 셰이더가 박스 복원과 NMS를 한다</a:t>
            </a:r>
            <a:endParaRPr lang="ko-KR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CPU는 최종 검출 몇 개만 받는다</a:t>
            </a:r>
            <a:endParaRPr lang="ko-KR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결과: 응용 CPU </a:t>
            </a:r>
            <a:r>
              <a:rPr lang="ko-KR" altLang="en-US" sz="1600" b="1" dirty="0">
                <a:solidFill>
                  <a:schemeClr val="accent1"/>
                </a:solidFill>
              </a:rPr>
              <a:t>3.25 → 0.94 ms/프레임</a:t>
            </a:r>
            <a:endParaRPr lang="ko-KR" sz="1600" dirty="0"/>
          </a:p>
        </p:txBody>
      </p:sp>
      <p:sp>
        <p:nvSpPr>
          <p:cNvPr id="5" name="지연 카드"/>
          <p:cNvSpPr/>
          <p:nvPr/>
        </p:nvSpPr>
        <p:spPr>
          <a:xfrm>
            <a:off x="5577840" y="3246120"/>
            <a:ext cx="2895448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6" name="지연 값"/>
          <p:cNvSpPr txBox="1"/>
          <p:nvPr/>
        </p:nvSpPr>
        <p:spPr>
          <a:xfrm>
            <a:off x="5806440" y="3474720"/>
            <a:ext cx="24839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지연은 그대로</a:t>
            </a:r>
            <a:endParaRPr lang="ko-KR" sz="1600" dirty="0"/>
          </a:p>
          <a:p>
            <a:pPr indent="0" marL="0">
              <a:spcAft>
                <a:spcPts val="800"/>
              </a:spcAft>
              <a:buNone/>
            </a:pPr>
            <a:r>
              <a:rPr lang="ko-KR" altLang="en-US" sz="2400" b="1" dirty="0">
                <a:solidFill>
                  <a:schemeClr val="tx1"/>
                </a:solidFill>
              </a:rPr>
              <a:t>79.1 대 79.2 ms</a:t>
            </a:r>
            <a:endParaRPr lang="ko-KR" sz="1600" dirty="0"/>
          </a:p>
        </p:txBody>
      </p:sp>
      <p:sp>
        <p:nvSpPr>
          <p:cNvPr id="7" name="정확도 카드"/>
          <p:cNvSpPr/>
          <p:nvPr/>
        </p:nvSpPr>
        <p:spPr>
          <a:xfrm>
            <a:off x="8747608" y="3246120"/>
            <a:ext cx="2895448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8" name="정확도 값"/>
          <p:cNvSpPr txBox="1"/>
          <p:nvPr/>
        </p:nvSpPr>
        <p:spPr>
          <a:xfrm>
            <a:off x="8976208" y="3474720"/>
            <a:ext cx="24839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정확도</a:t>
            </a:r>
            <a:endParaRPr lang="ko-KR" sz="1600" dirty="0"/>
          </a:p>
          <a:p>
            <a:pPr indent="0" marL="0">
              <a:spcAft>
                <a:spcPts val="8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CPU 기준 구현과 같은 결과</a:t>
            </a:r>
            <a:endParaRPr lang="ko-KR" sz="1600" dirty="0"/>
          </a:p>
          <a:p>
            <a:pPr indent="0" marL="0">
              <a:spcAft>
                <a:spcPts val="8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NPU 런타임 NMS와 IoU 0.9 매칭 0.999</a:t>
            </a:r>
            <a:endParaRPr lang="ko-KR" sz="1600" dirty="0"/>
          </a:p>
        </p:txBody>
      </p:sp>
      <p:sp>
        <p:nvSpPr>
          <p:cNvPr id="9" name="각주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2"/>
                </a:solidFill>
              </a:rPr>
              <a:t>측정 조건: GPU 1150 MHz · 디코더 1스레드 · 배치 1/슬롯 1 (7번 슬라이드와 조건이 다르다)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④ 최저 지연 운용 — 한 번에 한 장, 줄 세우지 않는다</a:t>
            </a:r>
            <a:endParaRPr lang="ko-KR" sz="2800" dirty="0"/>
          </a:p>
        </p:txBody>
      </p:sp>
      <p:sp>
        <p:nvSpPr>
          <p:cNvPr id="3" name="도식 노드 1"/>
          <p:cNvSpPr/>
          <p:nvPr/>
        </p:nvSpPr>
        <p:spPr>
          <a:xfrm>
            <a:off x="54864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/>
        </p:spPr>
      </p:sp>
      <p:pic>
        <p:nvPicPr>
          <p:cNvPr id="4" name="도식 아이콘 1" descr="입력 페이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23060"/>
            <a:ext cx="365760" cy="365760"/>
          </a:xfrm>
          <a:prstGeom prst="rect">
            <a:avLst/>
          </a:prstGeom>
        </p:spPr>
      </p:pic>
      <p:sp>
        <p:nvSpPr>
          <p:cNvPr id="5" name="도식 라벨 1"/>
          <p:cNvSpPr txBox="1"/>
          <p:nvPr/>
        </p:nvSpPr>
        <p:spPr>
          <a:xfrm>
            <a:off x="1234440" y="1371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입력 페이싱</a:t>
            </a:r>
            <a:endParaRPr lang="ko-KR" sz="1600" dirty="0"/>
          </a:p>
          <a:p>
            <a:pPr indent="0" marL="0">
              <a:buNone/>
            </a:pPr>
            <a:r>
              <a:rPr lang="ko-KR" altLang="en-US" sz="1200" dirty="0">
                <a:solidFill>
                  <a:schemeClr val="bg1"/>
                </a:solidFill>
              </a:rPr>
              <a:t>카메라처럼 소스 시각에 도착</a:t>
            </a:r>
            <a:endParaRPr lang="ko-KR" sz="1600" dirty="0"/>
          </a:p>
        </p:txBody>
      </p:sp>
      <p:sp>
        <p:nvSpPr>
          <p:cNvPr id="6" name="도식 화살표 1"/>
          <p:cNvSpPr/>
          <p:nvPr/>
        </p:nvSpPr>
        <p:spPr>
          <a:xfrm>
            <a:off x="2935224" y="1805940"/>
            <a:ext cx="479450" cy="0"/>
          </a:xfrm>
          <a:prstGeom prst="line">
            <a:avLst/>
          </a:prstGeom>
          <a:noFill/>
          <a:ln w="25400">
            <a:solidFill>
              <a:srgbClr val="5A6E83"/>
            </a:solidFill>
            <a:prstDash val="solid"/>
            <a:tailEnd type="triangle"/>
          </a:ln>
        </p:spPr>
      </p:sp>
      <p:sp>
        <p:nvSpPr>
          <p:cNvPr id="7" name="도식 노드 2"/>
          <p:cNvSpPr/>
          <p:nvPr/>
        </p:nvSpPr>
        <p:spPr>
          <a:xfrm>
            <a:off x="3469538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/>
        </p:spPr>
      </p:sp>
      <p:pic>
        <p:nvPicPr>
          <p:cNvPr id="8" name="도식 아이콘 2" descr="대기열 1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418" y="1623060"/>
            <a:ext cx="365760" cy="365760"/>
          </a:xfrm>
          <a:prstGeom prst="rect">
            <a:avLst/>
          </a:prstGeom>
        </p:spPr>
      </p:pic>
      <p:sp>
        <p:nvSpPr>
          <p:cNvPr id="9" name="도식 라벨 2"/>
          <p:cNvSpPr txBox="1"/>
          <p:nvPr/>
        </p:nvSpPr>
        <p:spPr>
          <a:xfrm>
            <a:off x="4155338" y="1371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대기열 1칸</a:t>
            </a:r>
            <a:endParaRPr lang="ko-KR" sz="1600" dirty="0"/>
          </a:p>
          <a:p>
            <a:pPr indent="0" marL="0">
              <a:buNone/>
            </a:pPr>
            <a:r>
              <a:rPr lang="ko-KR" altLang="en-US" sz="1200" dirty="0">
                <a:solidFill>
                  <a:schemeClr val="bg1"/>
                </a:solidFill>
              </a:rPr>
              <a:t>줄 세우지 않는다</a:t>
            </a:r>
            <a:endParaRPr lang="ko-KR" sz="1600" dirty="0"/>
          </a:p>
        </p:txBody>
      </p:sp>
      <p:sp>
        <p:nvSpPr>
          <p:cNvPr id="10" name="도식 화살표 2"/>
          <p:cNvSpPr/>
          <p:nvPr/>
        </p:nvSpPr>
        <p:spPr>
          <a:xfrm>
            <a:off x="5856122" y="1805940"/>
            <a:ext cx="479450" cy="0"/>
          </a:xfrm>
          <a:prstGeom prst="line">
            <a:avLst/>
          </a:prstGeom>
          <a:noFill/>
          <a:ln w="25400">
            <a:solidFill>
              <a:srgbClr val="5A6E83"/>
            </a:solidFill>
            <a:prstDash val="solid"/>
            <a:tailEnd type="triangle"/>
          </a:ln>
        </p:spPr>
      </p:sp>
      <p:sp>
        <p:nvSpPr>
          <p:cNvPr id="11" name="도식 노드 3"/>
          <p:cNvSpPr/>
          <p:nvPr/>
        </p:nvSpPr>
        <p:spPr>
          <a:xfrm>
            <a:off x="6390437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/>
        </p:spPr>
      </p:sp>
      <p:pic>
        <p:nvPicPr>
          <p:cNvPr id="12" name="도식 아이콘 3" descr="배치 1 · 슬롯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317" y="1623060"/>
            <a:ext cx="365760" cy="365760"/>
          </a:xfrm>
          <a:prstGeom prst="rect">
            <a:avLst/>
          </a:prstGeom>
        </p:spPr>
      </p:pic>
      <p:sp>
        <p:nvSpPr>
          <p:cNvPr id="13" name="도식 라벨 3"/>
          <p:cNvSpPr txBox="1"/>
          <p:nvPr/>
        </p:nvSpPr>
        <p:spPr>
          <a:xfrm>
            <a:off x="7076237" y="1371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배치 1 · 슬롯 1</a:t>
            </a:r>
            <a:endParaRPr lang="ko-KR" sz="1600" dirty="0"/>
          </a:p>
          <a:p>
            <a:pPr indent="0" marL="0">
              <a:buNone/>
            </a:pPr>
            <a:r>
              <a:rPr lang="ko-KR" altLang="en-US" sz="1200" dirty="0">
                <a:solidFill>
                  <a:schemeClr val="bg1"/>
                </a:solidFill>
              </a:rPr>
              <a:t>NPU가 한 번에 한 장</a:t>
            </a:r>
            <a:endParaRPr lang="ko-KR" sz="1600" dirty="0"/>
          </a:p>
        </p:txBody>
      </p:sp>
      <p:sp>
        <p:nvSpPr>
          <p:cNvPr id="14" name="도식 화살표 3"/>
          <p:cNvSpPr/>
          <p:nvPr/>
        </p:nvSpPr>
        <p:spPr>
          <a:xfrm>
            <a:off x="8777021" y="1805940"/>
            <a:ext cx="479450" cy="0"/>
          </a:xfrm>
          <a:prstGeom prst="line">
            <a:avLst/>
          </a:prstGeom>
          <a:noFill/>
          <a:ln w="25400">
            <a:solidFill>
              <a:srgbClr val="5A6E83"/>
            </a:solidFill>
            <a:prstDash val="solid"/>
            <a:tailEnd type="triangle"/>
          </a:ln>
        </p:spPr>
      </p:sp>
      <p:sp>
        <p:nvSpPr>
          <p:cNvPr id="15" name="도식 노드 4"/>
          <p:cNvSpPr/>
          <p:nvPr/>
        </p:nvSpPr>
        <p:spPr>
          <a:xfrm>
            <a:off x="9311335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/>
        </p:spPr>
      </p:sp>
      <p:pic>
        <p:nvPicPr>
          <p:cNvPr id="16" name="도식 아이콘 4" descr="검출 결과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215" y="1623060"/>
            <a:ext cx="365760" cy="365760"/>
          </a:xfrm>
          <a:prstGeom prst="rect">
            <a:avLst/>
          </a:prstGeom>
        </p:spPr>
      </p:pic>
      <p:sp>
        <p:nvSpPr>
          <p:cNvPr id="17" name="도식 라벨 4"/>
          <p:cNvSpPr txBox="1"/>
          <p:nvPr/>
        </p:nvSpPr>
        <p:spPr>
          <a:xfrm>
            <a:off x="9997135" y="1371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검출 결과</a:t>
            </a:r>
            <a:endParaRPr lang="ko-KR" sz="1600" dirty="0"/>
          </a:p>
        </p:txBody>
      </p:sp>
      <p:sp>
        <p:nvSpPr>
          <p:cNvPr id="18" name="버림 화살표"/>
          <p:cNvSpPr/>
          <p:nvPr/>
        </p:nvSpPr>
        <p:spPr>
          <a:xfrm>
            <a:off x="4635398" y="2368296"/>
            <a:ext cx="0" cy="347472"/>
          </a:xfrm>
          <a:prstGeom prst="line">
            <a:avLst/>
          </a:prstGeom>
          <a:noFill/>
          <a:ln w="25400">
            <a:solidFill>
              <a:srgbClr val="5A6E83"/>
            </a:solidFill>
            <a:prstDash val="dash"/>
            <a:tailEnd type="triangle"/>
          </a:ln>
        </p:spPr>
      </p:sp>
      <p:pic>
        <p:nvPicPr>
          <p:cNvPr id="19" name="버림 아이콘" descr="버림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126" y="2441448"/>
            <a:ext cx="274320" cy="274320"/>
          </a:xfrm>
          <a:prstGeom prst="rect">
            <a:avLst/>
          </a:prstGeom>
        </p:spPr>
      </p:pic>
      <p:sp>
        <p:nvSpPr>
          <p:cNvPr id="20" name="버림 라벨"/>
          <p:cNvSpPr txBox="1"/>
          <p:nvPr/>
        </p:nvSpPr>
        <p:spPr>
          <a:xfrm>
            <a:off x="5092598" y="2441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2"/>
                </a:solidFill>
              </a:rPr>
              <a:t>처리 못 한 프레임은 버림</a:t>
            </a:r>
            <a:endParaRPr lang="ko-KR" sz="1300" dirty="0"/>
          </a:p>
        </p:txBody>
      </p:sp>
      <p:sp>
        <p:nvSpPr>
          <p:cNvPr id="21" name="본문"/>
          <p:cNvSpPr txBox="1"/>
          <p:nvPr/>
        </p:nvSpPr>
        <p:spPr>
          <a:xfrm>
            <a:off x="548640" y="3063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페이싱이 없으면 디코드 끝 기준 79 ms의 절반 넘게(약 42 ms, 추정)가 앞 프레임을 기다린 대기였다</a:t>
            </a:r>
            <a:endParaRPr lang="ko-KR" sz="1600" dirty="0"/>
          </a:p>
        </p:txBody>
      </p:sp>
      <p:sp>
        <p:nvSpPr>
          <p:cNvPr id="22" name="결과 카드"/>
          <p:cNvSpPr/>
          <p:nvPr/>
        </p:nvSpPr>
        <p:spPr>
          <a:xfrm>
            <a:off x="548640" y="4069080"/>
            <a:ext cx="51206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23" name="결과 수치"/>
          <p:cNvSpPr txBox="1"/>
          <p:nvPr/>
        </p:nvSpPr>
        <p:spPr>
          <a:xfrm>
            <a:off x="822960" y="4206240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결과 · 도착 기준 평균</a:t>
            </a:r>
            <a:endParaRPr lang="ko-KR" sz="1600" dirty="0"/>
          </a:p>
          <a:p>
            <a:pPr indent="0" marL="0">
              <a:spcAft>
                <a:spcPts val="400"/>
              </a:spcAft>
              <a:buNone/>
            </a:pPr>
            <a:r>
              <a:rPr lang="ko-KR" altLang="en-US" sz="4400" b="1" dirty="0">
                <a:solidFill>
                  <a:schemeClr val="accent1"/>
                </a:solidFill>
              </a:rPr>
              <a:t>58.4 ms</a:t>
            </a:r>
            <a:r>
              <a:rPr lang="ko-KR" altLang="en-US" sz="2200" b="1" dirty="0">
                <a:solidFill>
                  <a:schemeClr val="accent1"/>
                </a:solidFill>
              </a:rPr>
              <a:t>   입력 18.6% 버림</a:t>
            </a:r>
            <a:endParaRPr lang="ko-KR" sz="1600" dirty="0"/>
          </a:p>
          <a:p>
            <a:pPr indent="0" marL="0">
              <a:spcAft>
                <a:spcPts val="4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그 안의 입력 대기열 대기 약 14.5 ms</a:t>
            </a:r>
            <a:endParaRPr lang="ko-KR" sz="1600" dirty="0"/>
          </a:p>
        </p:txBody>
      </p:sp>
      <p:pic>
        <p:nvPicPr>
          <p:cNvPr id="24" name="그림 입력 대기열" descr="입력 대기열 크기 N에 따른 (a) 도착→결과 지연과 (b) 입력 버림률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063240"/>
            <a:ext cx="5608015" cy="1921817"/>
          </a:xfrm>
          <a:prstGeom prst="rect">
            <a:avLst/>
          </a:prstGeom>
        </p:spPr>
      </p:pic>
      <p:sp>
        <p:nvSpPr>
          <p:cNvPr id="25" name="그림 캡션"/>
          <p:cNvSpPr txBox="1"/>
          <p:nvPr/>
        </p:nvSpPr>
        <p:spPr>
          <a:xfrm>
            <a:off x="6035040" y="5076497"/>
            <a:ext cx="5608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2"/>
                </a:solidFill>
              </a:rPr>
              <a:t>대기열 크기 N이 1 늘 때마다 b1/s1 평균 지연 +33.1 ms (1/30 s), 버림률은 거의 같다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⑤ CPU는 거의 지휘만 한다</a:t>
            </a:r>
            <a:endParaRPr lang="ko-KR" sz="2800" dirty="0"/>
          </a:p>
        </p:txBody>
      </p:sp>
      <p:sp>
        <p:nvSpPr>
          <p:cNvPr id="3" name="도식 하드웨어 1"/>
          <p:cNvSpPr/>
          <p:nvPr/>
        </p:nvSpPr>
        <p:spPr>
          <a:xfrm>
            <a:off x="548640" y="1371600"/>
            <a:ext cx="132588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/>
        </p:spPr>
      </p:sp>
      <p:sp>
        <p:nvSpPr>
          <p:cNvPr id="4" name="도식 하드웨어 라벨 1"/>
          <p:cNvSpPr txBox="1"/>
          <p:nvPr/>
        </p:nvSpPr>
        <p:spPr>
          <a:xfrm>
            <a:off x="548640" y="13716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하드웨어</a:t>
            </a:r>
            <a:endParaRPr lang="ko-KR" sz="1500" dirty="0"/>
          </a:p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디코더</a:t>
            </a:r>
            <a:endParaRPr lang="ko-KR" sz="1500" dirty="0"/>
          </a:p>
        </p:txBody>
      </p:sp>
      <p:sp>
        <p:nvSpPr>
          <p:cNvPr id="5" name="데이터 화살표 1"/>
          <p:cNvSpPr/>
          <p:nvPr/>
        </p:nvSpPr>
        <p:spPr>
          <a:xfrm>
            <a:off x="1920240" y="1805940"/>
            <a:ext cx="365760" cy="0"/>
          </a:xfrm>
          <a:prstGeom prst="line">
            <a:avLst/>
          </a:prstGeom>
          <a:noFill/>
          <a:ln w="50800">
            <a:solidFill>
              <a:srgbClr val="1E2A36"/>
            </a:solidFill>
            <a:prstDash val="solid"/>
            <a:tailEnd type="triangle"/>
          </a:ln>
        </p:spPr>
      </p:sp>
      <p:sp>
        <p:nvSpPr>
          <p:cNvPr id="6" name="제어 화살표 1"/>
          <p:cNvSpPr/>
          <p:nvPr/>
        </p:nvSpPr>
        <p:spPr>
          <a:xfrm>
            <a:off x="1211580" y="2286000"/>
            <a:ext cx="1851660" cy="868680"/>
          </a:xfrm>
          <a:prstGeom prst="line">
            <a:avLst/>
          </a:prstGeom>
          <a:noFill/>
          <a:ln w="19050">
            <a:solidFill>
              <a:srgbClr val="5A6E83"/>
            </a:solidFill>
            <a:prstDash val="dash"/>
            <a:headEnd type="triangle"/>
          </a:ln>
        </p:spPr>
      </p:sp>
      <p:sp>
        <p:nvSpPr>
          <p:cNvPr id="7" name="도식 하드웨어 2"/>
          <p:cNvSpPr/>
          <p:nvPr/>
        </p:nvSpPr>
        <p:spPr>
          <a:xfrm>
            <a:off x="2331720" y="1371600"/>
            <a:ext cx="132588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/>
        </p:spPr>
      </p:sp>
      <p:sp>
        <p:nvSpPr>
          <p:cNvPr id="8" name="도식 하드웨어 라벨 2"/>
          <p:cNvSpPr txBox="1"/>
          <p:nvPr/>
        </p:nvSpPr>
        <p:spPr>
          <a:xfrm>
            <a:off x="2331720" y="13716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GPU</a:t>
            </a:r>
            <a:endParaRPr lang="ko-KR" sz="1500" dirty="0"/>
          </a:p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전처리</a:t>
            </a:r>
            <a:endParaRPr lang="ko-KR" sz="1500" dirty="0"/>
          </a:p>
        </p:txBody>
      </p:sp>
      <p:sp>
        <p:nvSpPr>
          <p:cNvPr id="9" name="데이터 화살표 2"/>
          <p:cNvSpPr/>
          <p:nvPr/>
        </p:nvSpPr>
        <p:spPr>
          <a:xfrm>
            <a:off x="3703320" y="1805940"/>
            <a:ext cx="365760" cy="0"/>
          </a:xfrm>
          <a:prstGeom prst="line">
            <a:avLst/>
          </a:prstGeom>
          <a:noFill/>
          <a:ln w="50800">
            <a:solidFill>
              <a:srgbClr val="1E2A36"/>
            </a:solidFill>
            <a:prstDash val="solid"/>
            <a:tailEnd type="triangle"/>
          </a:ln>
        </p:spPr>
      </p:sp>
      <p:sp>
        <p:nvSpPr>
          <p:cNvPr id="10" name="제어 화살표 2"/>
          <p:cNvSpPr/>
          <p:nvPr/>
        </p:nvSpPr>
        <p:spPr>
          <a:xfrm>
            <a:off x="2994660" y="2286000"/>
            <a:ext cx="617220" cy="868680"/>
          </a:xfrm>
          <a:prstGeom prst="line">
            <a:avLst/>
          </a:prstGeom>
          <a:noFill/>
          <a:ln w="19050">
            <a:solidFill>
              <a:srgbClr val="5A6E83"/>
            </a:solidFill>
            <a:prstDash val="dash"/>
            <a:headEnd type="triangle"/>
          </a:ln>
        </p:spPr>
      </p:sp>
      <p:sp>
        <p:nvSpPr>
          <p:cNvPr id="11" name="도식 하드웨어 3"/>
          <p:cNvSpPr/>
          <p:nvPr/>
        </p:nvSpPr>
        <p:spPr>
          <a:xfrm>
            <a:off x="4114800" y="1371600"/>
            <a:ext cx="13258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</p:sp>
      <p:sp>
        <p:nvSpPr>
          <p:cNvPr id="12" name="도식 하드웨어 라벨 3"/>
          <p:cNvSpPr txBox="1"/>
          <p:nvPr/>
        </p:nvSpPr>
        <p:spPr>
          <a:xfrm>
            <a:off x="4114800" y="13716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NPU</a:t>
            </a:r>
            <a:endParaRPr lang="ko-KR" sz="1500" dirty="0"/>
          </a:p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추론</a:t>
            </a:r>
            <a:endParaRPr lang="ko-KR" sz="1500" dirty="0"/>
          </a:p>
        </p:txBody>
      </p:sp>
      <p:sp>
        <p:nvSpPr>
          <p:cNvPr id="13" name="데이터 화살표 3"/>
          <p:cNvSpPr/>
          <p:nvPr/>
        </p:nvSpPr>
        <p:spPr>
          <a:xfrm>
            <a:off x="5486400" y="1805940"/>
            <a:ext cx="365760" cy="0"/>
          </a:xfrm>
          <a:prstGeom prst="line">
            <a:avLst/>
          </a:prstGeom>
          <a:noFill/>
          <a:ln w="50800">
            <a:solidFill>
              <a:srgbClr val="1E2A36"/>
            </a:solidFill>
            <a:prstDash val="solid"/>
            <a:tailEnd type="triangle"/>
          </a:ln>
        </p:spPr>
      </p:sp>
      <p:sp>
        <p:nvSpPr>
          <p:cNvPr id="14" name="제어 화살표 3"/>
          <p:cNvSpPr/>
          <p:nvPr/>
        </p:nvSpPr>
        <p:spPr>
          <a:xfrm flipV="1">
            <a:off x="4160520" y="2286000"/>
            <a:ext cx="617220" cy="868680"/>
          </a:xfrm>
          <a:prstGeom prst="line">
            <a:avLst/>
          </a:prstGeom>
          <a:noFill/>
          <a:ln w="19050">
            <a:solidFill>
              <a:srgbClr val="5A6E83"/>
            </a:solidFill>
            <a:prstDash val="dash"/>
            <a:tailEnd type="triangle"/>
          </a:ln>
        </p:spPr>
      </p:sp>
      <p:sp>
        <p:nvSpPr>
          <p:cNvPr id="15" name="도식 하드웨어 4"/>
          <p:cNvSpPr/>
          <p:nvPr/>
        </p:nvSpPr>
        <p:spPr>
          <a:xfrm>
            <a:off x="5897880" y="1371600"/>
            <a:ext cx="132588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/>
        </p:spPr>
      </p:sp>
      <p:sp>
        <p:nvSpPr>
          <p:cNvPr id="16" name="도식 하드웨어 라벨 4"/>
          <p:cNvSpPr txBox="1"/>
          <p:nvPr/>
        </p:nvSpPr>
        <p:spPr>
          <a:xfrm>
            <a:off x="5897880" y="13716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GPU</a:t>
            </a:r>
            <a:endParaRPr lang="ko-KR" sz="1500" dirty="0"/>
          </a:p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후처리</a:t>
            </a:r>
            <a:endParaRPr lang="ko-KR" sz="1500" dirty="0"/>
          </a:p>
        </p:txBody>
      </p:sp>
      <p:sp>
        <p:nvSpPr>
          <p:cNvPr id="17" name="제어 화살표 4"/>
          <p:cNvSpPr/>
          <p:nvPr/>
        </p:nvSpPr>
        <p:spPr>
          <a:xfrm flipV="1">
            <a:off x="4709160" y="2286000"/>
            <a:ext cx="1851660" cy="868680"/>
          </a:xfrm>
          <a:prstGeom prst="line">
            <a:avLst/>
          </a:prstGeom>
          <a:noFill/>
          <a:ln w="19050">
            <a:solidFill>
              <a:srgbClr val="5A6E83"/>
            </a:solidFill>
            <a:prstDash val="dash"/>
            <a:tailEnd type="triangle"/>
          </a:ln>
        </p:spPr>
      </p:sp>
      <p:sp>
        <p:nvSpPr>
          <p:cNvPr id="18" name="도식 CPU"/>
          <p:cNvSpPr/>
          <p:nvPr/>
        </p:nvSpPr>
        <p:spPr>
          <a:xfrm>
            <a:off x="2651760" y="315468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rgbClr val="5A6E83"/>
            </a:solidFill>
            <a:prstDash val="solid"/>
          </a:ln>
        </p:spPr>
      </p:sp>
      <p:sp>
        <p:nvSpPr>
          <p:cNvPr id="19" name="도식 CPU 라벨"/>
          <p:cNvSpPr txBox="1"/>
          <p:nvPr/>
        </p:nvSpPr>
        <p:spPr>
          <a:xfrm>
            <a:off x="2651760" y="3154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CPU</a:t>
            </a:r>
            <a:endParaRPr lang="ko-KR" sz="1600" dirty="0"/>
          </a:p>
          <a:p>
            <a:pPr algn="ctr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</a:rPr>
              <a:t>제출 · 이벤트 대기</a:t>
            </a:r>
            <a:endParaRPr lang="ko-KR" sz="1600" dirty="0"/>
          </a:p>
        </p:txBody>
      </p:sp>
      <p:sp>
        <p:nvSpPr>
          <p:cNvPr id="20" name="범례 데이터 선"/>
          <p:cNvSpPr/>
          <p:nvPr/>
        </p:nvSpPr>
        <p:spPr>
          <a:xfrm>
            <a:off x="548640" y="4270248"/>
            <a:ext cx="548640" cy="0"/>
          </a:xfrm>
          <a:prstGeom prst="line">
            <a:avLst/>
          </a:prstGeom>
          <a:noFill/>
          <a:ln w="50800">
            <a:solidFill>
              <a:srgbClr val="1E2A36"/>
            </a:solidFill>
            <a:prstDash val="solid"/>
            <a:tailEnd type="triangle"/>
          </a:ln>
        </p:spPr>
      </p:sp>
      <p:sp>
        <p:nvSpPr>
          <p:cNvPr id="21" name="범례 데이터"/>
          <p:cNvSpPr txBox="1"/>
          <p:nvPr/>
        </p:nvSpPr>
        <p:spPr>
          <a:xfrm>
            <a:off x="123444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데이터 (dma-buf · 복사 없음)</a:t>
            </a:r>
            <a:endParaRPr lang="ko-KR" sz="1200" dirty="0"/>
          </a:p>
        </p:txBody>
      </p:sp>
      <p:sp>
        <p:nvSpPr>
          <p:cNvPr id="22" name="범례 제어 선"/>
          <p:cNvSpPr/>
          <p:nvPr/>
        </p:nvSpPr>
        <p:spPr>
          <a:xfrm>
            <a:off x="4114800" y="4270248"/>
            <a:ext cx="548640" cy="0"/>
          </a:xfrm>
          <a:prstGeom prst="line">
            <a:avLst/>
          </a:prstGeom>
          <a:noFill/>
          <a:ln w="19050">
            <a:solidFill>
              <a:srgbClr val="5A6E83"/>
            </a:solidFill>
            <a:prstDash val="dash"/>
            <a:tailEnd type="triangle"/>
          </a:ln>
        </p:spPr>
      </p:sp>
      <p:sp>
        <p:nvSpPr>
          <p:cNvPr id="23" name="범례 제어"/>
          <p:cNvSpPr txBox="1"/>
          <p:nvPr/>
        </p:nvSpPr>
        <p:spPr>
          <a:xfrm>
            <a:off x="480060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제어 (CPU)</a:t>
            </a:r>
            <a:endParaRPr lang="ko-KR" sz="1200" dirty="0"/>
          </a:p>
        </p:txBody>
      </p:sp>
      <p:sp>
        <p:nvSpPr>
          <p:cNvPr id="24" name="대기 방식 1"/>
          <p:cNvSpPr/>
          <p:nvPr/>
        </p:nvSpPr>
        <p:spPr>
          <a:xfrm>
            <a:off x="548640" y="4617720"/>
            <a:ext cx="3200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pic>
        <p:nvPicPr>
          <p:cNvPr id="25" name="대기 방식 아이콘 1" descr="이전 · 폴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0"/>
            <a:ext cx="502920" cy="502920"/>
          </a:xfrm>
          <a:prstGeom prst="rect">
            <a:avLst/>
          </a:prstGeom>
        </p:spPr>
      </p:pic>
      <p:sp>
        <p:nvSpPr>
          <p:cNvPr id="26" name="대기 방식 설명 1"/>
          <p:cNvSpPr txBox="1"/>
          <p:nvPr/>
        </p:nvSpPr>
        <p:spPr>
          <a:xfrm>
            <a:off x="1508760" y="47091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1600" b="1" dirty="0">
                <a:solidFill>
                  <a:schemeClr val="accent2"/>
                </a:solidFill>
              </a:rPr>
              <a:t>이전 · 폴링</a:t>
            </a:r>
            <a:endParaRPr lang="ko-KR" sz="1600" dirty="0"/>
          </a:p>
          <a:p>
            <a:pPr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일정 간격으로 완료를 확인한다</a:t>
            </a:r>
            <a:endParaRPr lang="ko-KR" sz="1600" dirty="0"/>
          </a:p>
        </p:txBody>
      </p:sp>
      <p:sp>
        <p:nvSpPr>
          <p:cNvPr id="27" name="대기 방식 2"/>
          <p:cNvSpPr/>
          <p:nvPr/>
        </p:nvSpPr>
        <p:spPr>
          <a:xfrm>
            <a:off x="4023360" y="4617720"/>
            <a:ext cx="3200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pic>
        <p:nvPicPr>
          <p:cNvPr id="28" name="대기 방식 아이콘 2" descr="지금 · 이벤트 대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5029200"/>
            <a:ext cx="502920" cy="502920"/>
          </a:xfrm>
          <a:prstGeom prst="rect">
            <a:avLst/>
          </a:prstGeom>
        </p:spPr>
      </p:pic>
      <p:sp>
        <p:nvSpPr>
          <p:cNvPr id="29" name="대기 방식 설명 2"/>
          <p:cNvSpPr txBox="1"/>
          <p:nvPr/>
        </p:nvSpPr>
        <p:spPr>
          <a:xfrm>
            <a:off x="4983480" y="47091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지금 · 이벤트 대기</a:t>
            </a:r>
            <a:endParaRPr lang="ko-KR" sz="1600" dirty="0"/>
          </a:p>
          <a:p>
            <a:pPr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완료 이벤트로 깨어나 기다린다</a:t>
            </a:r>
            <a:endParaRPr lang="ko-KR" sz="1600" dirty="0"/>
          </a:p>
        </p:txBody>
      </p:sp>
      <p:sp>
        <p:nvSpPr>
          <p:cNvPr id="30" name="⑤ 결과 카드"/>
          <p:cNvSpPr/>
          <p:nvPr/>
        </p:nvSpPr>
        <p:spPr>
          <a:xfrm>
            <a:off x="7635240" y="1371600"/>
            <a:ext cx="4007815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1" name="⑤ 결과 수치"/>
          <p:cNvSpPr txBox="1"/>
          <p:nvPr/>
        </p:nvSpPr>
        <p:spPr>
          <a:xfrm>
            <a:off x="7909560" y="1463040"/>
            <a:ext cx="35506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①~⑤ 모두 적용 · 최저 지연 운용점</a:t>
            </a:r>
            <a:endParaRPr lang="ko-KR" sz="1600" dirty="0"/>
          </a:p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응용 CPU</a:t>
            </a:r>
            <a:endParaRPr lang="ko-KR" sz="1600" dirty="0"/>
          </a:p>
          <a:p>
            <a:pPr indent="0" marL="0">
              <a:buNone/>
            </a:pPr>
            <a:r>
              <a:rPr lang="ko-KR" altLang="en-US" sz="4800" b="1" dirty="0">
                <a:solidFill>
                  <a:schemeClr val="accent1"/>
                </a:solidFill>
              </a:rPr>
              <a:t>약 1.0</a:t>
            </a:r>
            <a:r>
              <a:rPr lang="ko-KR" altLang="en-US" sz="2000" b="1" dirty="0">
                <a:solidFill>
                  <a:schemeClr val="accent1"/>
                </a:solidFill>
              </a:rPr>
              <a:t> ms/프레임</a:t>
            </a:r>
            <a:endParaRPr lang="ko-KR" sz="1600" dirty="0"/>
          </a:p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(처리한 프레임 기준)</a:t>
            </a:r>
            <a:endParaRPr lang="ko-KR" sz="1600" dirty="0"/>
          </a:p>
        </p:txBody>
      </p:sp>
      <p:sp>
        <p:nvSpPr>
          <p:cNvPr id="32" name="본문"/>
          <p:cNvSpPr txBox="1"/>
          <p:nvPr/>
        </p:nvSpPr>
        <p:spPr>
          <a:xfrm>
            <a:off x="7635240" y="3703320"/>
            <a:ext cx="40078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CPU는 큰 데이터를 만지지 않고 </a:t>
            </a:r>
            <a:r>
              <a:rPr lang="ko-KR" altLang="en-US" sz="1500" b="1" dirty="0">
                <a:solidFill>
                  <a:schemeClr val="tx1"/>
                </a:solidFill>
              </a:rPr>
              <a:t>작업 제출과 완료 확인만</a:t>
            </a:r>
            <a:r>
              <a:rPr lang="ko-KR" altLang="en-US" sz="1500" dirty="0">
                <a:solidFill>
                  <a:schemeClr val="tx1"/>
                </a:solidFill>
              </a:rPr>
              <a:t> 한다</a:t>
            </a:r>
            <a:endParaRPr lang="ko-KR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완료도 폴링 대신 </a:t>
            </a:r>
            <a:r>
              <a:rPr lang="ko-KR" altLang="en-US" sz="1500" b="1" dirty="0">
                <a:solidFill>
                  <a:schemeClr val="tx1"/>
                </a:solidFill>
              </a:rPr>
              <a:t>완료 이벤트로 깨어나 기다린다</a:t>
            </a:r>
            <a:endParaRPr lang="ko-KR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감소의 대부분은 ②·③의 몫이다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결과 요약</a:t>
            </a:r>
            <a:endParaRPr lang="ko-KR" sz="2800" dirty="0"/>
          </a:p>
        </p:txBody>
      </p:sp>
      <p:graphicFrame>
        <p:nvGraphicFramePr>
          <p:cNvPr id="12" name="표 1 결과 요약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560320"/>
                <a:gridCol w="3596335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구성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응용 CPU (ms/프레임)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지연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출발점: 형식 변환·NMS를 CPU에서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17.6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② NPU 형식(NHCW)을 GPU가 직접 생성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3.3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③ 결과 해석(NMS 포함)을 GPU로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0.94 (직전 3.25)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79.2 ms (디코드 끝 기준)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④⑤ 최저 지연 운용(입력 페이싱 + 대기열 1)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약 1.0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58.4 ms (도착 기준, 입력 18.6% 버림)</a:t>
                      </a:r>
                      <a:endParaRPr lang="ko-KR" sz="1400" dirty="0"/>
                    </a:p>
                    <a:p>
                      <a:pPr algn="r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화면까지 70.2 ms</a:t>
                      </a:r>
                      <a:endParaRPr lang="ko-KR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검출 결과"/>
          <p:cNvSpPr txBox="1"/>
          <p:nvPr/>
        </p:nvSpPr>
        <p:spPr>
          <a:xfrm>
            <a:off x="548640" y="4389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검출 결과는 기준 경로와 같다 (1,816프레임에서 9,457개)</a:t>
            </a:r>
            <a:endParaRPr lang="ko-KR" sz="1400" dirty="0"/>
          </a:p>
        </p:txBody>
      </p:sp>
      <p:sp>
        <p:nvSpPr>
          <p:cNvPr id="5" name="표 각주"/>
          <p:cNvSpPr txBox="1"/>
          <p:nvPr/>
        </p:nvSpPr>
        <p:spPr>
          <a:xfrm>
            <a:off x="548640" y="48920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accent2"/>
                </a:solidFill>
              </a:rPr>
              <a:t>1~2행: GPU 960 MHz · 디코더 자동 스레드 · 배치 1/슬롯 2 (1,816프레임 3회 중앙값). 3~4행: GPU 1150 MHz · 디코더 1스레드 · 배치 1/슬롯 1 (900프레임 3회 중앙값)</a:t>
            </a:r>
            <a:endParaRPr lang="ko-KR" sz="16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accent2"/>
                </a:solidFill>
              </a:rPr>
              <a:t>4행 CPU는 처리한 프레임 기준, 3·4행 지연은 기점이 달라 서로 빼지 않는다</a:t>
            </a:r>
            <a:endParaRPr lang="ko-KR" sz="16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accent2"/>
                </a:solidFill>
              </a:rPr>
              <a:t>58.4 ms는 표시 없이 입력 18.6% 버림, 70.2 ms는 화면 표시를 켠 별도 실행(버림 19.1%)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bg1"/>
                </a:solidFill>
              </a:rPr>
              <a:t>결론</a:t>
            </a:r>
            <a:endParaRPr lang="ko-KR" sz="2800" dirty="0"/>
          </a:p>
        </p:txBody>
      </p:sp>
      <p:pic>
        <p:nvPicPr>
          <p:cNvPr id="3" name="핵심 아이콘" descr="핵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8640" cy="548640"/>
          </a:xfrm>
          <a:prstGeom prst="rect">
            <a:avLst/>
          </a:prstGeom>
        </p:spPr>
      </p:pic>
      <p:sp>
        <p:nvSpPr>
          <p:cNvPr id="4" name="핵심 메시지"/>
          <p:cNvSpPr txBox="1"/>
          <p:nvPr/>
        </p:nvSpPr>
        <p:spPr>
          <a:xfrm>
            <a:off x="1371600" y="1463040"/>
            <a:ext cx="10271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600" dirty="0">
                <a:solidFill>
                  <a:schemeClr val="bg1"/>
                </a:solidFill>
              </a:rPr>
              <a:t>CPU를 줄이는 열쇠는 연산을 빠르게 하는 것이 아니라 </a:t>
            </a:r>
            <a:r>
              <a:rPr lang="ko-KR" altLang="en-US" sz="2600" b="1" dirty="0">
                <a:solidFill>
                  <a:schemeClr val="accent6"/>
                </a:solidFill>
              </a:rPr>
              <a:t>CPU가 데이터를 읽지 않게 하는 것</a:t>
            </a:r>
            <a:endParaRPr lang="ko-KR" sz="2600" dirty="0"/>
          </a:p>
        </p:txBody>
      </p:sp>
      <p:pic>
        <p:nvPicPr>
          <p:cNvPr id="5" name="요점 아이콘 1" descr="요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456432"/>
            <a:ext cx="411480" cy="411480"/>
          </a:xfrm>
          <a:prstGeom prst="rect">
            <a:avLst/>
          </a:prstGeom>
        </p:spPr>
      </p:pic>
      <p:sp>
        <p:nvSpPr>
          <p:cNvPr id="6" name="요점 1"/>
          <p:cNvSpPr txBox="1"/>
          <p:nvPr/>
        </p:nvSpPr>
        <p:spPr>
          <a:xfrm>
            <a:off x="1371600" y="320040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dirty="0">
                <a:solidFill>
                  <a:schemeClr val="bg1"/>
                </a:solidFill>
              </a:rPr>
              <a:t>디코더·GPU·NPU가 dma-buf로 직접 주고받고, 형식 생성과 결과 해석을 GPU에 맡기면 CPU에는 지휘만 남는다</a:t>
            </a:r>
            <a:endParaRPr lang="ko-KR" sz="1800" dirty="0"/>
          </a:p>
        </p:txBody>
      </p:sp>
      <p:pic>
        <p:nvPicPr>
          <p:cNvPr id="7" name="요점 아이콘 2" descr="요점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645152"/>
            <a:ext cx="411480" cy="411480"/>
          </a:xfrm>
          <a:prstGeom prst="rect">
            <a:avLst/>
          </a:prstGeom>
        </p:spPr>
      </p:pic>
      <p:sp>
        <p:nvSpPr>
          <p:cNvPr id="8" name="요점 2"/>
          <p:cNvSpPr txBox="1"/>
          <p:nvPr/>
        </p:nvSpPr>
        <p:spPr>
          <a:xfrm>
            <a:off x="1371600" y="438912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dirty="0">
                <a:solidFill>
                  <a:schemeClr val="bg1"/>
                </a:solidFill>
              </a:rPr>
              <a:t>최저 지연 운용("한 번에 한 장, 줄 세우지 않기")에서 응용 CPU 약 1 ms/프레임, 도착 기준 58.4 ms (입력 18.6% 버림)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4800" b="1" dirty="0">
                <a:solidFill>
                  <a:schemeClr val="bg1"/>
                </a:solidFill>
              </a:rPr>
              <a:t>감사합니다</a:t>
            </a:r>
            <a:endParaRPr lang="ko-KR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40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chemeClr val="bg2"/>
                </a:solidFill>
              </a:rPr>
              <a:t>질의응답 (Q&amp;A)</a:t>
            </a:r>
            <a:endParaRPr lang="ko-KR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108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800" dirty="0">
                <a:solidFill>
                  <a:schemeClr val="bg1"/>
                </a:solidFill>
              </a:rPr>
              <a:t>발표자 (작성 필요)</a:t>
            </a:r>
            <a:endParaRPr lang="ko-KR" sz="1800" dirty="0"/>
          </a:p>
        </p:txBody>
      </p:sp>
      <p:sp>
        <p:nvSpPr>
          <p:cNvPr id="5" name="흐름 아이콘 원 1"/>
          <p:cNvSpPr/>
          <p:nvPr/>
        </p:nvSpPr>
        <p:spPr>
          <a:xfrm>
            <a:off x="7818120" y="29718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흐름 아이콘 1" descr="디코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154680"/>
            <a:ext cx="365760" cy="365760"/>
          </a:xfrm>
          <a:prstGeom prst="rect">
            <a:avLst/>
          </a:prstGeom>
        </p:spPr>
      </p:pic>
      <p:sp>
        <p:nvSpPr>
          <p:cNvPr id="7" name="흐름 아이콘 원 2"/>
          <p:cNvSpPr/>
          <p:nvPr/>
        </p:nvSpPr>
        <p:spPr>
          <a:xfrm>
            <a:off x="8778240" y="29718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흐름 아이콘 2" descr="GP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154680"/>
            <a:ext cx="365760" cy="365760"/>
          </a:xfrm>
          <a:prstGeom prst="rect">
            <a:avLst/>
          </a:prstGeom>
        </p:spPr>
      </p:pic>
      <p:sp>
        <p:nvSpPr>
          <p:cNvPr id="9" name="흐름 아이콘 원 3"/>
          <p:cNvSpPr/>
          <p:nvPr/>
        </p:nvSpPr>
        <p:spPr>
          <a:xfrm>
            <a:off x="9738360" y="2971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흐름 아이콘 3" descr="N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3154680"/>
            <a:ext cx="365760" cy="365760"/>
          </a:xfrm>
          <a:prstGeom prst="rect">
            <a:avLst/>
          </a:prstGeom>
        </p:spPr>
      </p:pic>
      <p:sp>
        <p:nvSpPr>
          <p:cNvPr id="11" name="흐름 아이콘 원 4"/>
          <p:cNvSpPr/>
          <p:nvPr/>
        </p:nvSpPr>
        <p:spPr>
          <a:xfrm>
            <a:off x="10698480" y="29718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흐름 아이콘 4" descr="표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3154680"/>
            <a:ext cx="365760" cy="365760"/>
          </a:xfrm>
          <a:prstGeom prst="rect">
            <a:avLst/>
          </a:prstGeom>
        </p:spPr>
      </p:pic>
      <p:sp>
        <p:nvSpPr>
          <p:cNvPr id="13" name="참고문헌 머리"/>
          <p:cNvSpPr txBox="1"/>
          <p:nvPr/>
        </p:nvSpPr>
        <p:spPr>
          <a:xfrm>
            <a:off x="5486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accent3"/>
                </a:solidFill>
              </a:rPr>
              <a:t>참고문헌</a:t>
            </a:r>
            <a:endParaRPr lang="ko-KR" sz="1100" dirty="0"/>
          </a:p>
        </p:txBody>
      </p:sp>
      <p:sp>
        <p:nvSpPr>
          <p:cNvPr id="14" name="참고문헌 1~6"/>
          <p:cNvSpPr txBox="1"/>
          <p:nvPr/>
        </p:nvSpPr>
        <p:spPr>
          <a:xfrm>
            <a:off x="548640" y="4727448"/>
            <a:ext cx="5364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[1] M. Buch 외, "AI Tax in Mobile SoCs," ISPASS 2021.</a:t>
            </a:r>
            <a:endParaRPr lang="ko-KR" sz="10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[2] A. F. AbouElhamayed 외, "Beyond Inference," DAC 2024.</a:t>
            </a:r>
            <a:endParaRPr lang="ko-KR" sz="10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[3] Raspberry Pi Ltd., "Raspberry Pi Compute Module 5 Datasheet," 2026.</a:t>
            </a:r>
            <a:endParaRPr lang="ko-KR" sz="10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[4] Hailo Technologies, "HailoRT v4.24.0 User Guide."</a:t>
            </a:r>
            <a:endParaRPr lang="ko-KR" sz="10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[5] G. Jocher and J. Qiu, "Ultralytics YOLO11," 2024.</a:t>
            </a:r>
            <a:endParaRPr lang="ko-KR" sz="10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[6] B. Vergara 외, "A Hailo-Accelerated System for Precision Agriculture," CHILECON 2025.</a:t>
            </a:r>
            <a:endParaRPr lang="ko-KR" sz="1000" dirty="0"/>
          </a:p>
        </p:txBody>
      </p:sp>
      <p:sp>
        <p:nvSpPr>
          <p:cNvPr id="15" name="참고문헌 7~11"/>
          <p:cNvSpPr txBox="1"/>
          <p:nvPr/>
        </p:nvSpPr>
        <p:spPr>
          <a:xfrm>
            <a:off x="6278728" y="4727448"/>
            <a:ext cx="5364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[7] 정필성, "실시간 객체탐지를 위한 저비용 엣지 AI 가속기," 한국컴퓨터정보학회논문지, 2026.</a:t>
            </a:r>
            <a:endParaRPr lang="ko-KR" sz="10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[8] Linux Kernel Documentation, "Buffer Sharing and Synchronization (dma-buf)," Linux 6.18.</a:t>
            </a:r>
            <a:endParaRPr lang="ko-KR" sz="10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[9] FFmpeg Developers, "FFmpeg," version 7.1.5.</a:t>
            </a:r>
            <a:endParaRPr lang="ko-KR" sz="10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[10] Khronos Vulkan Working Group, "Vulkan 1.4.365 Specification," 2026.</a:t>
            </a:r>
            <a:endParaRPr lang="ko-KR" sz="10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chemeClr val="accent4"/>
                </a:solidFill>
              </a:rPr>
              <a:t>[11] Mesa 3D Graphics Library, "V3D," Mesa 26.2.2 문서.</a:t>
            </a:r>
            <a:endParaRPr lang="ko-KR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st CPU Offload">
  <a:themeElements>
    <a:clrScheme name="Host CPU Offload">
      <a:dk1>
        <a:srgbClr val="1E2A36"/>
      </a:dk1>
      <a:lt1>
        <a:srgbClr val="FFFFFF"/>
      </a:lt1>
      <a:dk2>
        <a:srgbClr val="2B4157"/>
      </a:dk2>
      <a:lt2>
        <a:srgbClr val="EEF2F6"/>
      </a:lt2>
      <a:accent1>
        <a:srgbClr val="C8641E"/>
      </a:accent1>
      <a:accent2>
        <a:srgbClr val="5A6E83"/>
      </a:accent2>
      <a:accent3>
        <a:srgbClr val="9AAABB"/>
      </a:accent3>
      <a:accent4>
        <a:srgbClr val="D6DEE6"/>
      </a:accent4>
      <a:accent5>
        <a:srgbClr val="44586D"/>
      </a:accent5>
      <a:accent6>
        <a:srgbClr val="F0B27A"/>
      </a:accent6>
      <a:hlink>
        <a:srgbClr val="2B6CB0"/>
      </a:hlink>
      <a:folHlink>
        <a:srgbClr val="5A6E83"/>
      </a:folHlink>
    </a:clrScheme>
    <a:fontScheme name="Host CPU Offload">
      <a:majorFont>
        <a:latin typeface="Arial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NPU 기반 YOLO 추론에서 호스트 CPU 최소화</dc:title>
  <dc:subject>최저 지연 운용을 기준으로</dc:subject>
  <dc:creator>발표자 (작성 필요)</dc:creator>
  <cp:lastModifiedBy>발표자 (작성 필요)</cp:lastModifiedBy>
  <cp:revision>1</cp:revision>
  <dcterms:created xsi:type="dcterms:W3CDTF">2026-10-27T00:00:00Z</dcterms:created>
  <dcterms:modified xsi:type="dcterms:W3CDTF">2026-10-27T00:00:00Z</dcterms:modified>
</cp:coreProperties>
</file>
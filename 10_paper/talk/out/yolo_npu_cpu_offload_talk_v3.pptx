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E7A951F2-5DEB-E7B7-C52C-EC0DF92FCC84}">
          <p14:sldIdLst>
            <p14:sldId id="256"/>
            <p14:sldId id="257"/>
          </p14:sldIdLst>
        </p14:section>
        <p14:section name="문제와 대상 시스템" id="{6FFB4A02-F665-386B-888F-CE4AE5029E4F}">
          <p14:sldIdLst>
            <p14:sldId id="258"/>
            <p14:sldId id="259"/>
            <p14:sldId id="260"/>
          </p14:sldIdLst>
        </p14:section>
        <p14:section name="CPU 최소화 기술" id="{2A2DF7E9-0165-DA73-2088-C1D62709E020}">
          <p14:sldIdLst>
            <p14:sldId id="261"/>
            <p14:sldId id="262"/>
            <p14:sldId id="263"/>
            <p14:sldId id="264"/>
            <p14:sldId id="265"/>
          </p14:sldIdLst>
        </p14:section>
        <p14:section name="결과" id="{8B18866C-42C3-A154-E69F-58A891033208}">
          <p14:sldIdLst>
            <p14:sldId id="266"/>
          </p14:sldIdLst>
        </p14:section>
        <p14:section name="결론" id="{307B9285-86F2-7ADC-E2B1-E4387E188C76}">
          <p14:sldIdLst>
            <p14:sldId id="267"/>
          </p14:sldIdLst>
        </p14:section>
        <p14:section name="맺음말" id="{2CAD5027-5ADC-5725-BE48-F15EC8DD5C48}">
          <p14:sldIdLst>
            <p14:sldId id="268"/>
          </p14:sldIdLst>
        </p14:section>
        <p14:section name="부록" id="{0C5A15E0-6F9D-EB4B-842E-FDF39016E318}">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4"/>
          <c:w val="0.55"/>
          <c:h val="0.7"/>
        </c:manualLayout>
      </c:layout>
      <c:barChart>
        <c:barDir val="bar"/>
        <c:grouping val="stacked"/>
        <c:varyColors val="0"/>
        <c:ser>
          <c:idx val="0"/>
          <c:order val="0"/>
          <c:tx>
            <c:strRef>
              <c:f>Sheet1!$B$1</c:f>
              <c:strCache>
                <c:ptCount val="1"/>
                <c:pt idx="0">
                  <c:v>소프트웨어 디코드</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Sheet1!$B$2:$B$3</c:f>
              <c:numCache>
                <c:formatCode>General</c:formatCode>
                <c:ptCount val="2"/>
                <c:pt idx="0">
                  <c:v>0</c:v>
                </c:pt>
                <c:pt idx="1">
                  <c:v>31.8</c:v>
                </c:pt>
              </c:numCache>
            </c:numRef>
          </c:val>
        </c:ser>
        <c:ser>
          <c:idx val="1"/>
          <c:order val="1"/>
          <c:tx>
            <c:strRef>
              <c:f>Sheet1!$C$1</c:f>
              <c:strCache>
                <c:ptCount val="1"/>
                <c:pt idx="0">
                  <c:v>dma-buf 0.23까지</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Sheet1!$C$2:$C$3</c:f>
              <c:numCache>
                <c:formatCode>General</c:formatCode>
                <c:ptCount val="2"/>
                <c:pt idx="0">
                  <c:v>0.23</c:v>
                </c:pt>
                <c:pt idx="1">
                  <c:v>0</c:v>
                </c:pt>
              </c:numCache>
            </c:numRef>
          </c:val>
        </c:ser>
        <c:ser>
          <c:idx val="2"/>
          <c:order val="2"/>
          <c:tx>
            <c:strRef>
              <c:f>Sheet1!$D$1</c:f>
              <c:strCache>
                <c:ptCount val="1"/>
                <c:pt idx="0">
                  <c:v>dma-buf 0.23~0.28 범위</c:v>
                </c:pt>
              </c:strCache>
            </c:strRef>
          </c:tx>
          <c:spPr>
            <a:solidFill>
              <a:srgbClr val="F0B27A"/>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Sheet1!$D$2:$D$3</c:f>
              <c:numCache>
                <c:formatCode>General</c:formatCode>
                <c:ptCount val="2"/>
                <c:pt idx="0">
                  <c:v>0.05</c:v>
                </c:pt>
                <c:pt idx="1">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40"/>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4"/>
          <c:w val="0.55"/>
          <c:h val="0.7"/>
        </c:manualLayout>
      </c:layout>
      <c:barChart>
        <c:barDir val="bar"/>
        <c:grouping val="stacked"/>
        <c:varyColors val="0"/>
        <c:ser>
          <c:idx val="0"/>
          <c:order val="0"/>
          <c:tx>
            <c:strRef>
              <c:f>Sheet1!$B$1</c:f>
              <c:strCache>
                <c:ptCount val="1"/>
                <c:pt idx="0">
                  <c:v>CPU로 내려받음</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Sheet1!$B$2:$B$4</c:f>
              <c:numCache>
                <c:formatCode>General</c:formatCode>
                <c:ptCount val="3"/>
                <c:pt idx="0">
                  <c:v>0</c:v>
                </c:pt>
                <c:pt idx="1">
                  <c:v>0</c:v>
                </c:pt>
                <c:pt idx="2">
                  <c:v>2.02</c:v>
                </c:pt>
              </c:numCache>
            </c:numRef>
          </c:val>
        </c:ser>
        <c:ser>
          <c:idx val="1"/>
          <c:order val="1"/>
          <c:tx>
            <c:strRef>
              <c:f>Sheet1!$C$1</c:f>
              <c:strCache>
                <c:ptCount val="1"/>
                <c:pt idx="0">
                  <c:v>dma-buf 유지 (명령행)</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Sheet1!$C$2:$C$4</c:f>
              <c:numCache>
                <c:formatCode>General</c:formatCode>
                <c:ptCount val="3"/>
                <c:pt idx="0">
                  <c:v>0</c:v>
                </c:pt>
                <c:pt idx="1">
                  <c:v>0.55</c:v>
                </c:pt>
                <c:pt idx="2">
                  <c:v>0</c:v>
                </c:pt>
              </c:numCache>
            </c:numRef>
          </c:val>
        </c:ser>
        <c:ser>
          <c:idx val="2"/>
          <c:order val="2"/>
          <c:tx>
            <c:strRef>
              <c:f>Sheet1!$D$1</c:f>
              <c:strCache>
                <c:ptCount val="1"/>
                <c:pt idx="0">
                  <c:v>dma-buf 0.23까지</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Sheet1!$D$2:$D$4</c:f>
              <c:numCache>
                <c:formatCode>General</c:formatCode>
                <c:ptCount val="3"/>
                <c:pt idx="0">
                  <c:v>0.23</c:v>
                </c:pt>
                <c:pt idx="1">
                  <c:v>0</c:v>
                </c:pt>
                <c:pt idx="2">
                  <c:v>0</c:v>
                </c:pt>
              </c:numCache>
            </c:numRef>
          </c:val>
        </c:ser>
        <c:ser>
          <c:idx val="3"/>
          <c:order val="3"/>
          <c:tx>
            <c:strRef>
              <c:f>Sheet1!$E$1</c:f>
              <c:strCache>
                <c:ptCount val="1"/>
                <c:pt idx="0">
                  <c:v>dma-buf 0.23~0.28 범위</c:v>
                </c:pt>
              </c:strCache>
            </c:strRef>
          </c:tx>
          <c:spPr>
            <a:solidFill>
              <a:srgbClr val="F0B27A"/>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Sheet1!$E$2:$E$4</c:f>
              <c:numCache>
                <c:formatCode>General</c:formatCode>
                <c:ptCount val="3"/>
                <c:pt idx="0">
                  <c:v>0.05</c:v>
                </c:pt>
                <c:pt idx="1">
                  <c:v>0</c:v>
                </c:pt>
                <c:pt idx="2">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2.5"/>
          <c:min val="0"/>
        </c:scaling>
        <c:delete val="0"/>
        <c:axPos val="b"/>
        <c:majorGridlines>
          <c:spPr>
            <a:ln w="9525" cap="flat">
              <a:solidFill>
                <a:srgbClr val="D6DEE6"/>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1"/>
                </a:solidFill>
                <a:latin typeface="+mn-lt"/>
                <a:ea typeface="+mn-ea"/>
              </a:defRPr>
            </a:pPr>
            <a:r>
              <a:rPr sz="1200" b="0" i="0" u="none" strike="noStrike">
                <a:solidFill>
                  <a:schemeClr val="tx1"/>
                </a:solidFill>
                <a:latin typeface="+mn-lt"/>
                <a:ea typeface="+mn-ea"/>
              </a:rPr>
              <a:t>배치 1 응용 CPU (ms/프레임)</a:t>
            </a:r>
          </a:p>
        </c:rich>
      </c:tx>
      <c:layout/>
      <c:overlay val="0"/>
    </c:title>
    <c:autoTitleDeleted val="0"/>
    <c:plotArea>
      <c:layout/>
      <c:barChart>
        <c:barDir val="col"/>
        <c:grouping val="clustered"/>
        <c:varyColors val="0"/>
        <c:ser>
          <c:idx val="0"/>
          <c:order val="0"/>
          <c:tx>
            <c:strRef>
              <c:f>Sheet1!$B$1</c:f>
              <c:strCache>
                <c:ptCount val="1"/>
                <c:pt idx="0">
                  <c:v>응용 CPU</c:v>
                </c:pt>
              </c:strCache>
            </c:strRef>
          </c:tx>
          <c:spPr>
            <a:solidFill>
              <a:srgbClr val="9AAABB"/>
            </a:solidFill>
            <a:effectLst/>
          </c:spPr>
          <c:invertIfNegative val="0"/>
          <c:dLbls>
            <c:numFmt formatCode="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dPt>
            <c:idx val="0"/>
            <c:invertIfNegative val="0"/>
            <c:bubble3D val="0"/>
            <c:spPr>
              <a:solidFill>
                <a:srgbClr val="9AAABB"/>
              </a:solidFill>
              <a:effectLst/>
            </c:spPr>
          </c:dPt>
          <c:dPt>
            <c:idx val="1"/>
            <c:invertIfNegative val="0"/>
            <c:bubble3D val="0"/>
            <c:spPr>
              <a:solidFill>
                <a:srgbClr val="C8641E"/>
              </a:solidFill>
              <a:effectLst/>
            </c:spPr>
          </c:dPt>
          <c:cat>
            <c:multiLvlStrRef>
              <c:f>Sheet1!$A$2:$A$3</c:f>
              <c:multiLvlStrCache>
                <c:ptCount val="2"/>
                <c:lvl>
                  <c:pt idx="0">
                    <c:v>출발점</c:v>
                  </c:pt>
                  <c:pt idx="1">
                    <c:v>② GPU가 NHCW 생성</c:v>
                  </c:pt>
                </c:lvl>
              </c:multiLvlStrCache>
            </c:multiLvlStrRef>
          </c:cat>
          <c:val>
            <c:numRef>
              <c:f>Sheet1!$B$2:$B$3</c:f>
              <c:numCache>
                <c:formatCode>General</c:formatCode>
                <c:ptCount val="2"/>
                <c:pt idx="0">
                  <c:v>17.6</c:v>
                </c:pt>
                <c:pt idx="1">
                  <c:v>3.3</c:v>
                </c:pt>
              </c:numCache>
            </c:numRef>
          </c:val>
        </c:ser>
        <c:dLbls>
          <c:numFmt formatCode="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in val="0"/>
        </c:scaling>
        <c:delete val="0"/>
        <c:axPos val="l"/>
        <c:majorGridlines>
          <c:spPr>
            <a:ln w="9525" cap="flat">
              <a:solidFill>
                <a:srgbClr val="D6DEE6"/>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1"/>
                </a:solidFill>
                <a:latin typeface="+mn-lt"/>
                <a:ea typeface="+mn-ea"/>
              </a:defRPr>
            </a:pPr>
            <a:r>
              <a:rPr sz="1200" b="0" i="0" u="none" strike="noStrike">
                <a:solidFill>
                  <a:schemeClr val="tx1"/>
                </a:solidFill>
                <a:latin typeface="+mn-lt"/>
                <a:ea typeface="+mn-ea"/>
              </a:rPr>
              <a:t>배치 1/슬롯 1 응용 CPU (ms/프레임)</a:t>
            </a:r>
          </a:p>
        </c:rich>
      </c:tx>
      <c:layout/>
      <c:overlay val="0"/>
    </c:title>
    <c:autoTitleDeleted val="0"/>
    <c:plotArea>
      <c:layout/>
      <c:barChart>
        <c:barDir val="col"/>
        <c:grouping val="clustered"/>
        <c:varyColors val="0"/>
        <c:ser>
          <c:idx val="0"/>
          <c:order val="0"/>
          <c:tx>
            <c:strRef>
              <c:f>Sheet1!$B$1</c:f>
              <c:strCache>
                <c:ptCount val="1"/>
                <c:pt idx="0">
                  <c:v>응용 CPU</c:v>
                </c:pt>
              </c:strCache>
            </c:strRef>
          </c:tx>
          <c:spPr>
            <a:solidFill>
              <a:srgbClr val="9AAABB"/>
            </a:solidFill>
            <a:effectLst/>
          </c:spPr>
          <c:invertIfNegative val="0"/>
          <c:dLbls>
            <c:numFmt formatCode="0.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dPt>
            <c:idx val="0"/>
            <c:invertIfNegative val="0"/>
            <c:bubble3D val="0"/>
            <c:spPr>
              <a:solidFill>
                <a:srgbClr val="9AAABB"/>
              </a:solidFill>
              <a:effectLst/>
            </c:spPr>
          </c:dPt>
          <c:dPt>
            <c:idx val="1"/>
            <c:invertIfNegative val="0"/>
            <c:bubble3D val="0"/>
            <c:spPr>
              <a:solidFill>
                <a:srgbClr val="C8641E"/>
              </a:solidFill>
              <a:effectLst/>
            </c:spPr>
          </c:dPt>
          <c:cat>
            <c:multiLvlStrRef>
              <c:f>Sheet1!$A$2:$A$3</c:f>
              <c:multiLvlStrCache>
                <c:ptCount val="2"/>
                <c:lvl>
                  <c:pt idx="0">
                    <c:v>결과 해석 CPU (직전)</c:v>
                  </c:pt>
                  <c:pt idx="1">
                    <c:v>③ 결과 해석 GPU</c:v>
                  </c:pt>
                </c:lvl>
              </c:multiLvlStrCache>
            </c:multiLvlStrRef>
          </c:cat>
          <c:val>
            <c:numRef>
              <c:f>Sheet1!$B$2:$B$3</c:f>
              <c:numCache>
                <c:formatCode>General</c:formatCode>
                <c:ptCount val="2"/>
                <c:pt idx="0">
                  <c:v>3.25</c:v>
                </c:pt>
                <c:pt idx="1">
                  <c:v>0.94</c:v>
                </c:pt>
              </c:numCache>
            </c:numRef>
          </c:val>
        </c:ser>
        <c:dLbls>
          <c:numFmt formatCode="0.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in val="0"/>
        </c:scaling>
        <c:delete val="0"/>
        <c:axPos val="l"/>
        <c:majorGridlines>
          <c:spPr>
            <a:ln w="9525" cap="flat">
              <a:solidFill>
                <a:srgbClr val="D6DE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1"/>
          <c:y val="0.02"/>
          <c:w val="0.63"/>
          <c:h val="0.86"/>
        </c:manualLayout>
      </c:layout>
      <c:barChart>
        <c:barDir val="bar"/>
        <c:grouping val="clustered"/>
        <c:varyColors val="0"/>
        <c:ser>
          <c:idx val="0"/>
          <c:order val="0"/>
          <c:tx>
            <c:strRef>
              <c:f>Sheet1!$B$1</c:f>
              <c:strCache>
                <c:ptCount val="1"/>
                <c:pt idx="0">
                  <c:v>GB/s</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dPt>
            <c:idx val="0"/>
            <c:invertIfNegative val="0"/>
            <c:bubble3D val="0"/>
            <c:spPr>
              <a:solidFill>
                <a:srgbClr val="C8641E"/>
              </a:solidFill>
              <a:effectLst/>
            </c:spPr>
          </c:dPt>
          <c:dPt>
            <c:idx val="1"/>
            <c:invertIfNegative val="0"/>
            <c:bubble3D val="0"/>
            <c:spPr>
              <a:solidFill>
                <a:srgbClr val="C8641E"/>
              </a:solidFill>
              <a:effectLst/>
            </c:spPr>
          </c:dPt>
          <c:dPt>
            <c:idx val="2"/>
            <c:invertIfNegative val="0"/>
            <c:bubble3D val="0"/>
            <c:spPr>
              <a:solidFill>
                <a:srgbClr val="9AAABB"/>
              </a:solidFill>
              <a:effectLst/>
            </c:spPr>
          </c:dPt>
          <c:dPt>
            <c:idx val="3"/>
            <c:invertIfNegative val="0"/>
            <c:bubble3D val="0"/>
            <c:spPr>
              <a:solidFill>
                <a:srgbClr val="9AAABB"/>
              </a:solidFill>
              <a:effectLst/>
            </c:spPr>
          </c:dPt>
          <c:dPt>
            <c:idx val="4"/>
            <c:invertIfNegative val="0"/>
            <c:bubble3D val="0"/>
            <c:spPr>
              <a:solidFill>
                <a:srgbClr val="9AAABB"/>
              </a:solidFill>
              <a:effectLst/>
            </c:spPr>
          </c:dPt>
          <c:dPt>
            <c:idx val="5"/>
            <c:invertIfNegative val="0"/>
            <c:bubble3D val="0"/>
            <c:spPr>
              <a:solidFill>
                <a:srgbClr val="5A6E83"/>
              </a:solidFill>
              <a:effectLst/>
            </c:spPr>
          </c:dPt>
          <c:dPt>
            <c:idx val="6"/>
            <c:invertIfNegative val="0"/>
            <c:bubble3D val="0"/>
            <c:spPr>
              <a:solidFill>
                <a:srgbClr val="5A6E83"/>
              </a:solidFill>
              <a:effectLst/>
            </c:spPr>
          </c:dPt>
          <c:cat>
            <c:multiLvlStrRef>
              <c:f>Sheet1!$A$2:$A$8</c:f>
              <c:multiLvlStrCache>
                <c:ptCount val="7"/>
                <c:lvl>
                  <c:pt idx="0">
                    <c:v>GPU 쓰기 (uvec4)</c:v>
                  </c:pt>
                  <c:pt idx="1">
                    <c:v>GPU 읽기 (uvec4)</c:v>
                  </c:pt>
                  <c:pt idx="2">
                    <c:v>CPU memset</c:v>
                  </c:pt>
                  <c:pt idx="3">
                    <c:v>CPU memcpy 쓰기</c:v>
                  </c:pt>
                  <c:pt idx="4">
                    <c:v>CPU 1바이트 쓰기</c:v>
                  </c:pt>
                  <c:pt idx="5">
                    <c:v>CPU memcpy 읽기</c:v>
                  </c:pt>
                  <c:pt idx="6">
                    <c:v>CPU 1바이트 읽기</c:v>
                  </c:pt>
                </c:lvl>
              </c:multiLvlStrCache>
            </c:multiLvlStrRef>
          </c:cat>
          <c:val>
            <c:numRef>
              <c:f>Sheet1!$B$2:$B$8</c:f>
              <c:numCache>
                <c:formatCode>General</c:formatCode>
                <c:ptCount val="7"/>
                <c:pt idx="0">
                  <c:v>16.03</c:v>
                </c:pt>
                <c:pt idx="1">
                  <c:v>14.66</c:v>
                </c:pt>
                <c:pt idx="2">
                  <c:v>12.54</c:v>
                </c:pt>
                <c:pt idx="3">
                  <c:v>6.05</c:v>
                </c:pt>
                <c:pt idx="4">
                  <c:v>2.39</c:v>
                </c:pt>
                <c:pt idx="5">
                  <c:v>1.567</c:v>
                </c:pt>
                <c:pt idx="6">
                  <c:v>0.096</c:v>
                </c:pt>
              </c:numCache>
            </c:numRef>
          </c:val>
        </c:ser>
        <c:dLbls>
          <c:numFmt formatCode="#,##0" sourceLinked="0"/>
          <c:txPr>
            <a:bodyPr/>
            <a:lstStyle/>
            <a:p>
              <a:pPr>
                <a:defRPr b="1" i="0" strike="noStrike" sz="1600" u="none">
                  <a:solidFill>
                    <a:schemeClr val="tx1"/>
                  </a:solidFill>
                  <a:latin typeface="+mn-lt"/>
                  <a:ea typeface="+mn-ea"/>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20"/>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chemeClr val="accent2"/>
                </a:solidFill>
                <a:latin typeface="+mn-lt"/>
                <a:ea typeface="+mn-ea"/>
              </a:defRPr>
            </a:pPr>
            <a:endParaRPr lang="ko-KR"/>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NPU가 추론을 맡은 뒤에도 CPU에 남는 일을 어떻게 걷어냈는지, 지연이 가장 짧은 운용 방식을 기준으로 말씀드린다.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문제와 대상을 보고, 다섯 가지 기술을 차례로 설명한 뒤, 결과와 결론으로 마무리한다.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CPU 개입을 최소화하는 것이다. 단, 처리량이 아니라 최저 지연 운용에서 그렇게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계열 구성의 선행 사례가 있다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기술 — ① 하드웨어 디코더와 제로 카피 ② NPU 형식을 GPU가 직접 생성 ③ 결과 해석도 GPU ④ 최저 지연 운용 ⑤ CPU는 지휘만.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CPU가 풀고 복사하는 경로, 아래 줄은 하드웨어 디코더가 푼 프레임을 dma-buf로 GPU에 바로 넘기는 경로다. 디코더는 FFmpeg의 하드웨어 경로 [9]로 부르고, 버퍼는 dma-buf [8]로 넘긴다. 소프트웨어 디코드는 프레임당 약 32 ms로 한 코어를 거의 다 쓴다. 하드웨어 디코더를 쓰고 출력을 dma-buf로 그대로 넘기면 0.23~0.28 ms다. 오른쪽은 같은 하드웨어 디코드에서 출력을 CPU로 내려받기만 해도 약 3.6배 비싸진다는 것 — CPU 비용의 원인이 복사라는 증거다.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줄이 이전 경로, 아래 줄이 바뀐 경로이고, 빨간 "CPU 읽기" 표식이 CPU가 데이터를 읽는 지점이다. 다이어그램 위 줄의 빨간 표식 자리가 17.6 ms의 대부분이었고, 아래 줄에서는 GPU가 NPU 형식으로 직접 써서 그 자리가 사라졌다. NPU는 칩 내부용 NHCW 배치를 쓰므로 NHWC로 넘기면 런타임이 CPU에서 형식을 바꾼다. 비용의 원인은 변환 연산이 아니라 CPU가 캐시되지 않는 GPU 메모리를 바이트 단위로 읽는 데 있었다. 그래서 Vulkan [10] 전처리 셰이더가 GPU(V3D [11])에서 처음부터 NHCW로 쓰게 했고, 배치 1 응용 CPU가 17.6에서 3.3 ms/프레임으로 줄었다. 부록 A1에서 왜 CPU 읽기만 비싼지 자세히 보여 드린다.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줄이 이전 경로, 아래 줄이 바뀐 경로다. CPU로 오는 데이터가 원시 출력 전체에서 최종 검출 몇 개로 줄었다는 것을 아래 줄의 가는 화살표로 보여 준다. 응용 CPU는 3.25에서 0.94 ms/프레임으로 줄었고 지연은 그대로였다. 정확도는 CPU 기준 구현과 같고, NPU 런타임 NMS와는 IoU 0.9 매칭 0.999다. 이 측정은 7번 슬라이드와 조건이 다르다.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페이싱 없이 입력을 한꺼번에 읽어 프레임들이 슬롯 앞에 줄을 서는 경우이고, 아래 줄은 입력 페이싱과 대기열 1칸으로 줄을 세우지 않는 최저 지연 운용이다. 배치 1, 슬롯 1로 한 번에 한 프레임만 처리하고, 처리 못 한 프레임은 버린다. 페이싱이 없을 때는 디코드 끝 기준 79 ms의 절반 넘게(약 42 ms, 추정)가 앞 프레임을 기다린 대기였다. 이 방식으로 도착 기준 평균 58.4 ms를 얻었고, 그 대가로 입력의 18.6%를 버린다. 대기열 크기를 늘리면 평균 지연은 늘고 버림률은 거의 같으므로 대기열은 1칸으로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위는 데이터가 하드웨어끼리 굵은 선으로 흐르고 CPU는 점선으로 지휘만 하는 구조이고, 아래는 일정 간격으로 확인하는 폴링 대신 완료 이벤트에 깨어나는 대기 방식을 쓴다는 대비다. 남은 CPU 일은 지휘뿐이다. 작업을 제출하고, 완료 이벤트가 오면 깨어나 다음 일을 넘긴다. 이렇게 해서 최저 지연 운용점에서 처리한 프레임당 약 1 ms가 남았고, 그 감소의 대부분은 앞의 ②·③ 덕분이다.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표는 기술별 응용 CPU 시간과 최저 지연 운용점을 정리한 것이다. 위 두 행과 아래 두 행은 측정 조건이 다르고, 4행 CPU는 처리한 프레임 기준이며, 3·4행의 지연은 기점이 달라 서로 빼지 않는다. 검출 결과는 기준 경로와 같았다.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CPU를 줄이는 열쇠는 연산을 빠르게 하는 것이 아니라 CPU가 데이터를 읽지 않게 하는 것이다. 디코더·GPU·NPU가 dma-buf로 직접 주고받고 형식 생성과 결과 해석을 GPU에 맡기면 CPU에는 지휘만 남는다. 최저 지연 운용에서 응용 CPU는 약 1 ms/프레임, 도착 기준 58.4 ms였고, 그 대가로 입력의 18.6%를 버린다.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이상입니다.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메모리라도 누가 어떤 방향으로 접근하느냐에 따라 100배 넘게 차이 난다. CPU 페이지 테이블이 이 메모리를 비캐시로 표시해서, CPU의 바이트 읽기는 매번 DRAM까지 다녀온다. 쓰기는 모아서 보내므로 싸다. GPU는 CPU 캐시와 상관없이 같은 DRAM을 읽는다. 그래서 설계 원칙은 "GPU가 쓴 데이터는 GPU·NPU가 소비하고, CPU는 읽지 않는다"다.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zero-copy는 복사를 없애지만 대가가 있다. CPU 캐시와 장치 사이의 일관성이다. 이 SoC의 V3D는 CPU 캐시를 들여다보지 않아서, CPU가 만진 버퍼를 sync 없이 넘기면 옛 값을 읽는다. 실측으로는 캐시에 남은 라인의 96~97%였다. 그래서 CPU가 접근하는 버퍼는 반드시 sync로 감싼다.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2971800"/>
            <a:ext cx="10698480" cy="54864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
        <p:nvSpPr>
          <p:cNvPr id="4" name="Text 0"/>
          <p:cNvSpPr/>
          <p:nvPr>
            <p:ph idx="102" type="body" hasCustomPrompt="1"/>
          </p:nvPr>
        </p:nvSpPr>
        <p:spPr>
          <a:xfrm>
            <a:off x="731520" y="3611880"/>
            <a:ext cx="10698480" cy="411480"/>
          </a:xfrm>
          <a:prstGeom prst="rect">
            <a:avLst/>
          </a:prstGeom>
          <a:noFill/>
          <a:ln/>
        </p:spPr>
        <p:txBody>
          <a:bodyPr wrap="square" rtlCol="0"/>
          <a:lstStyle>
            <a:lvl1pPr algn="l" indent="0" marL="0">
              <a:buNone/>
              <a:defRPr lang="en-US" sz="1600" dirty="0">
                <a:solidFill>
                  <a:schemeClr val="accent3"/>
                </a:solidFill>
              </a:defRPr>
            </a:lvl1pPr>
          </a:lstStyle>
          <a:p>
            <a:pPr algn="l" indent="0" marL="0">
              <a:buNone/>
            </a:pPr>
            <a:endParaRPr lang="en-US" sz="1600" dirty="0"/>
          </a:p>
        </p:txBody>
      </p:sp>
      <p:sp>
        <p:nvSpPr>
          <p:cNvPr id="5" name="Text 0"/>
          <p:cNvSpPr/>
          <p:nvPr>
            <p:ph idx="103" type="body" hasCustomPrompt="1"/>
          </p:nvPr>
        </p:nvSpPr>
        <p:spPr>
          <a:xfrm>
            <a:off x="731520" y="5120640"/>
            <a:ext cx="5943600" cy="4572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ko-KR" altLang="en-US" sz="1000" dirty="0">
                <a:solidFill>
                  <a:schemeClr val="accent2"/>
                </a:solidFill>
              </a:rPr>
              <a:t>NPU 기반 YOLO 추론에서 호스트 CPU 최소화</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0584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2240280"/>
            <a:ext cx="10698480" cy="54864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
        <p:nvSpPr>
          <p:cNvPr id="4" name="Text 0"/>
          <p:cNvSpPr/>
          <p:nvPr>
            <p:ph idx="102" type="body" hasCustomPrompt="1"/>
          </p:nvPr>
        </p:nvSpPr>
        <p:spPr>
          <a:xfrm>
            <a:off x="731520" y="3108960"/>
            <a:ext cx="5943600" cy="4572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4-1.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lIns="0" tIns="0" rIns="0" bIns="0" rtlCol="0" anchor="b"/>
          <a:lstStyle/>
          <a:p>
            <a:pPr algn="l" indent="0" marL="0">
              <a:buNone/>
            </a:pPr>
            <a:r>
              <a:rPr lang="ko-KR" altLang="en-US" sz="4000" b="1" dirty="0">
                <a:solidFill>
                  <a:schemeClr val="bg1"/>
                </a:solidFill>
              </a:rPr>
              <a:t>NPU 기반 YOLO 추론에서 호스트 CPU 최소화</a:t>
            </a:r>
            <a:endParaRPr lang="ko-KR" sz="4000" dirty="0"/>
          </a:p>
        </p:txBody>
      </p:sp>
      <p:sp>
        <p:nvSpPr>
          <p:cNvPr id="3" name="Text 0"/>
          <p:cNvSpPr/>
          <p:nvPr>
            <p:ph idx="101" type="body" hasCustomPrompt="1"/>
          </p:nvPr>
        </p:nvSpPr>
        <p:spPr>
          <a:xfrm>
            <a:off x="731520" y="2971800"/>
            <a:ext cx="10698480" cy="548640"/>
          </a:xfrm>
          <a:prstGeom prst="rect">
            <a:avLst/>
          </a:prstGeom>
          <a:noFill/>
          <a:ln/>
        </p:spPr>
        <p:txBody>
          <a:bodyPr wrap="square" lIns="0" tIns="0" rIns="0" bIns="0" rtlCol="0" anchor="t"/>
          <a:lstStyle/>
          <a:p>
            <a:pPr algn="l" indent="0" marL="0">
              <a:buNone/>
            </a:pPr>
            <a:r>
              <a:rPr lang="ko-KR" altLang="en-US" sz="2400" dirty="0">
                <a:solidFill>
                  <a:schemeClr val="bg2"/>
                </a:solidFill>
              </a:rPr>
              <a:t>최저 지연 운용을 기준으로</a:t>
            </a:r>
            <a:endParaRPr lang="ko-KR" sz="2400" dirty="0"/>
          </a:p>
        </p:txBody>
      </p:sp>
      <p:sp>
        <p:nvSpPr>
          <p:cNvPr id="4" name="Text 0"/>
          <p:cNvSpPr/>
          <p:nvPr>
            <p:ph idx="102" type="body" hasCustomPrompt="1"/>
          </p:nvPr>
        </p:nvSpPr>
        <p:spPr>
          <a:xfrm>
            <a:off x="731520" y="3611880"/>
            <a:ext cx="10698480" cy="411480"/>
          </a:xfrm>
          <a:prstGeom prst="rect">
            <a:avLst/>
          </a:prstGeom>
          <a:noFill/>
          <a:ln/>
        </p:spPr>
        <p:txBody>
          <a:bodyPr wrap="square" lIns="0" tIns="0" rIns="0" bIns="0" rtlCol="0" anchor="t"/>
          <a:lstStyle/>
          <a:p>
            <a:pPr algn="l" indent="0" marL="0">
              <a:buNone/>
            </a:pPr>
            <a:r>
              <a:rPr lang="en-US" altLang="en-US" sz="1600" dirty="0">
                <a:solidFill>
                  <a:schemeClr val="accent3"/>
                </a:solidFill>
              </a:rPr>
              <a:t>Minimizing Host CPU Load in NPU-Based YOLO Inference</a:t>
            </a:r>
            <a:endParaRPr lang="en-US" sz="1600" dirty="0"/>
          </a:p>
        </p:txBody>
      </p:sp>
      <p:sp>
        <p:nvSpPr>
          <p:cNvPr id="5" name="Text 0"/>
          <p:cNvSpPr/>
          <p:nvPr>
            <p:ph idx="103" type="body" hasCustomPrompt="1"/>
          </p:nvPr>
        </p:nvSpPr>
        <p:spPr>
          <a:xfrm>
            <a:off x="731520" y="5120640"/>
            <a:ext cx="5943600" cy="457200"/>
          </a:xfrm>
          <a:prstGeom prst="rect">
            <a:avLst/>
          </a:prstGeom>
          <a:noFill/>
          <a:ln/>
        </p:spPr>
        <p:txBody>
          <a:bodyPr wrap="square" lIns="0" tIns="0" rIns="0" bIns="0" rtlCol="0" anchor="ctr"/>
          <a:lstStyle/>
          <a:p>
            <a:pPr algn="l" indent="0" marL="0">
              <a:buNone/>
            </a:pPr>
            <a:r>
              <a:rPr lang="ko-KR" altLang="en-US" sz="1800" dirty="0">
                <a:solidFill>
                  <a:schemeClr val="bg1"/>
                </a:solidFill>
              </a:rPr>
              <a:t>발표자 (작성 필요)</a:t>
            </a:r>
            <a:endParaRPr lang="ko-KR" sz="1800" dirty="0"/>
          </a:p>
        </p:txBody>
      </p:sp>
      <p:sp>
        <p:nvSpPr>
          <p:cNvPr id="6" name="흐름 아이콘 원 1"/>
          <p:cNvSpPr/>
          <p:nvPr/>
        </p:nvSpPr>
        <p:spPr>
          <a:xfrm>
            <a:off x="7818120" y="4983480"/>
            <a:ext cx="731520" cy="731520"/>
          </a:xfrm>
          <a:prstGeom prst="ellipse">
            <a:avLst/>
          </a:prstGeom>
          <a:solidFill>
            <a:schemeClr val="accent5"/>
          </a:solidFill>
          <a:ln/>
        </p:spPr>
      </p:sp>
      <p:pic>
        <p:nvPicPr>
          <p:cNvPr id="7" name="흐름 아이콘 1" descr="디코드">    </p:cNvPr>
          <p:cNvPicPr>
            <a:picLocks noChangeAspect="1"/>
          </p:cNvPicPr>
          <p:nvPr/>
        </p:nvPicPr>
        <p:blipFill>
          <a:blip r:embed="rId1"/>
          <a:stretch>
            <a:fillRect/>
          </a:stretch>
        </p:blipFill>
        <p:spPr>
          <a:xfrm>
            <a:off x="8001000" y="5166360"/>
            <a:ext cx="365760" cy="365760"/>
          </a:xfrm>
          <a:prstGeom prst="rect">
            <a:avLst/>
          </a:prstGeom>
        </p:spPr>
      </p:pic>
      <p:sp>
        <p:nvSpPr>
          <p:cNvPr id="8" name="흐름 아이콘 원 2"/>
          <p:cNvSpPr/>
          <p:nvPr/>
        </p:nvSpPr>
        <p:spPr>
          <a:xfrm>
            <a:off x="8778240" y="4983480"/>
            <a:ext cx="731520" cy="731520"/>
          </a:xfrm>
          <a:prstGeom prst="ellipse">
            <a:avLst/>
          </a:prstGeom>
          <a:solidFill>
            <a:schemeClr val="accent5"/>
          </a:solidFill>
          <a:ln/>
        </p:spPr>
      </p:sp>
      <p:pic>
        <p:nvPicPr>
          <p:cNvPr id="9" name="흐름 아이콘 2" descr="GPU">    </p:cNvPr>
          <p:cNvPicPr>
            <a:picLocks noChangeAspect="1"/>
          </p:cNvPicPr>
          <p:nvPr/>
        </p:nvPicPr>
        <p:blipFill>
          <a:blip r:embed="rId2"/>
          <a:stretch>
            <a:fillRect/>
          </a:stretch>
        </p:blipFill>
        <p:spPr>
          <a:xfrm>
            <a:off x="8961120" y="5166360"/>
            <a:ext cx="365760" cy="365760"/>
          </a:xfrm>
          <a:prstGeom prst="rect">
            <a:avLst/>
          </a:prstGeom>
        </p:spPr>
      </p:pic>
      <p:sp>
        <p:nvSpPr>
          <p:cNvPr id="10" name="흐름 아이콘 원 3"/>
          <p:cNvSpPr/>
          <p:nvPr/>
        </p:nvSpPr>
        <p:spPr>
          <a:xfrm>
            <a:off x="9738360" y="4983480"/>
            <a:ext cx="731520" cy="731520"/>
          </a:xfrm>
          <a:prstGeom prst="ellipse">
            <a:avLst/>
          </a:prstGeom>
          <a:solidFill>
            <a:schemeClr val="accent1"/>
          </a:solidFill>
          <a:ln/>
        </p:spPr>
      </p:sp>
      <p:pic>
        <p:nvPicPr>
          <p:cNvPr id="11" name="흐름 아이콘 3" descr="NPU">    </p:cNvPr>
          <p:cNvPicPr>
            <a:picLocks noChangeAspect="1"/>
          </p:cNvPicPr>
          <p:nvPr/>
        </p:nvPicPr>
        <p:blipFill>
          <a:blip r:embed="rId3"/>
          <a:stretch>
            <a:fillRect/>
          </a:stretch>
        </p:blipFill>
        <p:spPr>
          <a:xfrm>
            <a:off x="9921240" y="5166360"/>
            <a:ext cx="365760" cy="365760"/>
          </a:xfrm>
          <a:prstGeom prst="rect">
            <a:avLst/>
          </a:prstGeom>
        </p:spPr>
      </p:pic>
      <p:sp>
        <p:nvSpPr>
          <p:cNvPr id="12" name="흐름 아이콘 원 4"/>
          <p:cNvSpPr/>
          <p:nvPr/>
        </p:nvSpPr>
        <p:spPr>
          <a:xfrm>
            <a:off x="10698480" y="4983480"/>
            <a:ext cx="731520" cy="731520"/>
          </a:xfrm>
          <a:prstGeom prst="ellipse">
            <a:avLst/>
          </a:prstGeom>
          <a:solidFill>
            <a:schemeClr val="accent5"/>
          </a:solidFill>
          <a:ln/>
        </p:spPr>
      </p:sp>
      <p:pic>
        <p:nvPicPr>
          <p:cNvPr id="13" name="흐름 아이콘 4" descr="표시">    </p:cNvPr>
          <p:cNvPicPr>
            <a:picLocks noChangeAspect="1"/>
          </p:cNvPicPr>
          <p:nvPr/>
        </p:nvPicPr>
        <p:blipFill>
          <a:blip r:embed="rId4"/>
          <a:stretch>
            <a:fillRect/>
          </a:stretch>
        </p:blipFill>
        <p:spPr>
          <a:xfrm>
            <a:off x="10881360" y="516636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목차</a:t>
            </a:r>
            <a:endParaRPr lang="ko-KR" sz="2800" dirty="0"/>
          </a:p>
        </p:txBody>
      </p:sp>
      <p:sp>
        <p:nvSpPr>
          <p:cNvPr id="3" name="목차 카드 1"/>
          <p:cNvSpPr/>
          <p:nvPr/>
        </p:nvSpPr>
        <p:spPr>
          <a:xfrm>
            <a:off x="548640" y="1371600"/>
            <a:ext cx="11094415" cy="914400"/>
          </a:xfrm>
          <a:prstGeom prst="roundRect">
            <a:avLst>
              <a:gd name="adj" fmla="val 8000"/>
            </a:avLst>
          </a:prstGeom>
          <a:solidFill>
            <a:schemeClr val="bg2"/>
          </a:solidFill>
          <a:ln/>
        </p:spPr>
      </p:sp>
      <p:sp>
        <p:nvSpPr>
          <p:cNvPr id="4" name="목차 번호 원 1"/>
          <p:cNvSpPr/>
          <p:nvPr/>
        </p:nvSpPr>
        <p:spPr>
          <a:xfrm>
            <a:off x="822960" y="1508760"/>
            <a:ext cx="640080" cy="640080"/>
          </a:xfrm>
          <a:prstGeom prst="ellipse">
            <a:avLst/>
          </a:prstGeom>
          <a:solidFill>
            <a:schemeClr val="tx2"/>
          </a:solidFill>
          <a:ln/>
        </p:spPr>
      </p:sp>
      <p:sp>
        <p:nvSpPr>
          <p:cNvPr id="5" name="목차 번호 1"/>
          <p:cNvSpPr txBox="1"/>
          <p:nvPr/>
        </p:nvSpPr>
        <p:spPr>
          <a:xfrm>
            <a:off x="822960" y="1508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1</a:t>
            </a:r>
            <a:endParaRPr lang="ko-KR" sz="2200" dirty="0"/>
          </a:p>
        </p:txBody>
      </p:sp>
      <p:sp>
        <p:nvSpPr>
          <p:cNvPr id="6" name="목차 항목 1"/>
          <p:cNvSpPr txBox="1"/>
          <p:nvPr/>
        </p:nvSpPr>
        <p:spPr>
          <a:xfrm>
            <a:off x="1737360" y="1444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문제와 대상 시스템</a:t>
            </a:r>
            <a:endParaRPr lang="ko-KR" sz="1600" dirty="0"/>
          </a:p>
          <a:p>
            <a:pPr indent="0" marL="0">
              <a:spcAft>
                <a:spcPts val="200"/>
              </a:spcAft>
              <a:buNone/>
            </a:pPr>
            <a:r>
              <a:rPr lang="ko-KR" altLang="en-US" sz="1400" dirty="0">
                <a:solidFill>
                  <a:schemeClr val="accent2"/>
                </a:solidFill>
              </a:rPr>
              <a:t>추론만 NPU로 옮겨도 CPU는 바쁘다 · 대상 시스템과 운용 기준 · 전체 구조</a:t>
            </a:r>
            <a:endParaRPr lang="ko-KR" sz="1600" dirty="0"/>
          </a:p>
        </p:txBody>
      </p:sp>
      <p:sp>
        <p:nvSpPr>
          <p:cNvPr id="7" name="목차 범위 1"/>
          <p:cNvSpPr txBox="1"/>
          <p:nvPr/>
        </p:nvSpPr>
        <p:spPr>
          <a:xfrm>
            <a:off x="9951415" y="1444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3~5</a:t>
            </a:r>
            <a:endParaRPr lang="ko-KR" sz="1400" dirty="0"/>
          </a:p>
        </p:txBody>
      </p:sp>
      <p:sp>
        <p:nvSpPr>
          <p:cNvPr id="8" name="목차 카드 2"/>
          <p:cNvSpPr/>
          <p:nvPr/>
        </p:nvSpPr>
        <p:spPr>
          <a:xfrm>
            <a:off x="548640" y="2514600"/>
            <a:ext cx="11094415" cy="914400"/>
          </a:xfrm>
          <a:prstGeom prst="roundRect">
            <a:avLst>
              <a:gd name="adj" fmla="val 8000"/>
            </a:avLst>
          </a:prstGeom>
          <a:solidFill>
            <a:schemeClr val="bg2"/>
          </a:solidFill>
          <a:ln/>
        </p:spPr>
      </p:sp>
      <p:sp>
        <p:nvSpPr>
          <p:cNvPr id="9" name="목차 번호 원 2"/>
          <p:cNvSpPr/>
          <p:nvPr/>
        </p:nvSpPr>
        <p:spPr>
          <a:xfrm>
            <a:off x="822960" y="2651760"/>
            <a:ext cx="640080" cy="640080"/>
          </a:xfrm>
          <a:prstGeom prst="ellipse">
            <a:avLst/>
          </a:prstGeom>
          <a:solidFill>
            <a:schemeClr val="tx2"/>
          </a:solidFill>
          <a:ln/>
        </p:spPr>
      </p:sp>
      <p:sp>
        <p:nvSpPr>
          <p:cNvPr id="10" name="목차 번호 2"/>
          <p:cNvSpPr txBox="1"/>
          <p:nvPr/>
        </p:nvSpPr>
        <p:spPr>
          <a:xfrm>
            <a:off x="822960" y="2651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2</a:t>
            </a:r>
            <a:endParaRPr lang="ko-KR" sz="2200" dirty="0"/>
          </a:p>
        </p:txBody>
      </p:sp>
      <p:sp>
        <p:nvSpPr>
          <p:cNvPr id="11" name="목차 항목 2"/>
          <p:cNvSpPr txBox="1"/>
          <p:nvPr/>
        </p:nvSpPr>
        <p:spPr>
          <a:xfrm>
            <a:off x="1737360" y="2587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CPU 최소화 기술 ①~⑤</a:t>
            </a:r>
            <a:endParaRPr lang="ko-KR" sz="1600" dirty="0"/>
          </a:p>
          <a:p>
            <a:pPr indent="0" marL="0">
              <a:spcAft>
                <a:spcPts val="200"/>
              </a:spcAft>
              <a:buNone/>
            </a:pPr>
            <a:r>
              <a:rPr lang="ko-KR" altLang="en-US" sz="1400" dirty="0">
                <a:solidFill>
                  <a:schemeClr val="accent2"/>
                </a:solidFill>
              </a:rPr>
              <a:t>① 하드웨어 디코더 · ② NHCW 직접 생성 · ③ 결과 해석 · ④ 최저 지연 운용 · ⑤ 지휘만</a:t>
            </a:r>
            <a:endParaRPr lang="ko-KR" sz="1600" dirty="0"/>
          </a:p>
        </p:txBody>
      </p:sp>
      <p:sp>
        <p:nvSpPr>
          <p:cNvPr id="12" name="목차 범위 2"/>
          <p:cNvSpPr txBox="1"/>
          <p:nvPr/>
        </p:nvSpPr>
        <p:spPr>
          <a:xfrm>
            <a:off x="9951415" y="2587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6~10</a:t>
            </a:r>
            <a:endParaRPr lang="ko-KR" sz="1400" dirty="0"/>
          </a:p>
        </p:txBody>
      </p:sp>
      <p:sp>
        <p:nvSpPr>
          <p:cNvPr id="13" name="목차 카드 3"/>
          <p:cNvSpPr/>
          <p:nvPr/>
        </p:nvSpPr>
        <p:spPr>
          <a:xfrm>
            <a:off x="548640" y="3657600"/>
            <a:ext cx="11094415" cy="914400"/>
          </a:xfrm>
          <a:prstGeom prst="roundRect">
            <a:avLst>
              <a:gd name="adj" fmla="val 8000"/>
            </a:avLst>
          </a:prstGeom>
          <a:solidFill>
            <a:schemeClr val="bg2"/>
          </a:solidFill>
          <a:ln/>
        </p:spPr>
      </p:sp>
      <p:sp>
        <p:nvSpPr>
          <p:cNvPr id="14" name="목차 번호 원 3"/>
          <p:cNvSpPr/>
          <p:nvPr/>
        </p:nvSpPr>
        <p:spPr>
          <a:xfrm>
            <a:off x="822960" y="3794760"/>
            <a:ext cx="640080" cy="640080"/>
          </a:xfrm>
          <a:prstGeom prst="ellipse">
            <a:avLst/>
          </a:prstGeom>
          <a:solidFill>
            <a:schemeClr val="tx2"/>
          </a:solidFill>
          <a:ln/>
        </p:spPr>
      </p:sp>
      <p:sp>
        <p:nvSpPr>
          <p:cNvPr id="15" name="목차 번호 3"/>
          <p:cNvSpPr txBox="1"/>
          <p:nvPr/>
        </p:nvSpPr>
        <p:spPr>
          <a:xfrm>
            <a:off x="822960" y="3794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3</a:t>
            </a:r>
            <a:endParaRPr lang="ko-KR" sz="2200" dirty="0"/>
          </a:p>
        </p:txBody>
      </p:sp>
      <p:sp>
        <p:nvSpPr>
          <p:cNvPr id="16" name="목차 항목 3"/>
          <p:cNvSpPr txBox="1"/>
          <p:nvPr/>
        </p:nvSpPr>
        <p:spPr>
          <a:xfrm>
            <a:off x="1737360" y="3730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결과</a:t>
            </a:r>
            <a:endParaRPr lang="ko-KR" sz="1600" dirty="0"/>
          </a:p>
          <a:p>
            <a:pPr indent="0" marL="0">
              <a:spcAft>
                <a:spcPts val="200"/>
              </a:spcAft>
              <a:buNone/>
            </a:pPr>
            <a:r>
              <a:rPr lang="ko-KR" altLang="en-US" sz="1400" dirty="0">
                <a:solidFill>
                  <a:schemeClr val="accent2"/>
                </a:solidFill>
              </a:rPr>
              <a:t>결과 요약</a:t>
            </a:r>
            <a:endParaRPr lang="ko-KR" sz="1600" dirty="0"/>
          </a:p>
        </p:txBody>
      </p:sp>
      <p:sp>
        <p:nvSpPr>
          <p:cNvPr id="17" name="목차 범위 3"/>
          <p:cNvSpPr txBox="1"/>
          <p:nvPr/>
        </p:nvSpPr>
        <p:spPr>
          <a:xfrm>
            <a:off x="9951415" y="3730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11</a:t>
            </a:r>
            <a:endParaRPr lang="ko-KR" sz="1400" dirty="0"/>
          </a:p>
        </p:txBody>
      </p:sp>
      <p:sp>
        <p:nvSpPr>
          <p:cNvPr id="18" name="목차 카드 4"/>
          <p:cNvSpPr/>
          <p:nvPr/>
        </p:nvSpPr>
        <p:spPr>
          <a:xfrm>
            <a:off x="548640" y="4800600"/>
            <a:ext cx="11094415" cy="914400"/>
          </a:xfrm>
          <a:prstGeom prst="roundRect">
            <a:avLst>
              <a:gd name="adj" fmla="val 8000"/>
            </a:avLst>
          </a:prstGeom>
          <a:solidFill>
            <a:schemeClr val="bg2"/>
          </a:solidFill>
          <a:ln/>
        </p:spPr>
      </p:sp>
      <p:sp>
        <p:nvSpPr>
          <p:cNvPr id="19" name="목차 번호 원 4"/>
          <p:cNvSpPr/>
          <p:nvPr/>
        </p:nvSpPr>
        <p:spPr>
          <a:xfrm>
            <a:off x="822960" y="4937760"/>
            <a:ext cx="640080" cy="640080"/>
          </a:xfrm>
          <a:prstGeom prst="ellipse">
            <a:avLst/>
          </a:prstGeom>
          <a:solidFill>
            <a:schemeClr val="tx2"/>
          </a:solidFill>
          <a:ln/>
        </p:spPr>
      </p:sp>
      <p:sp>
        <p:nvSpPr>
          <p:cNvPr id="20" name="목차 번호 4"/>
          <p:cNvSpPr txBox="1"/>
          <p:nvPr/>
        </p:nvSpPr>
        <p:spPr>
          <a:xfrm>
            <a:off x="822960" y="4937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4</a:t>
            </a:r>
            <a:endParaRPr lang="ko-KR" sz="2200" dirty="0"/>
          </a:p>
        </p:txBody>
      </p:sp>
      <p:sp>
        <p:nvSpPr>
          <p:cNvPr id="21" name="목차 항목 4"/>
          <p:cNvSpPr txBox="1"/>
          <p:nvPr/>
        </p:nvSpPr>
        <p:spPr>
          <a:xfrm>
            <a:off x="1737360" y="4873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결론</a:t>
            </a:r>
            <a:endParaRPr lang="ko-KR" sz="1600" dirty="0"/>
          </a:p>
          <a:p>
            <a:pPr indent="0" marL="0">
              <a:spcAft>
                <a:spcPts val="200"/>
              </a:spcAft>
              <a:buNone/>
            </a:pPr>
            <a:r>
              <a:rPr lang="ko-KR" altLang="en-US" sz="1400" dirty="0">
                <a:solidFill>
                  <a:schemeClr val="accent2"/>
                </a:solidFill>
              </a:rPr>
              <a:t>CPU가 데이터를 읽지 않게 하는 것</a:t>
            </a:r>
            <a:endParaRPr lang="ko-KR" sz="1600" dirty="0"/>
          </a:p>
        </p:txBody>
      </p:sp>
      <p:sp>
        <p:nvSpPr>
          <p:cNvPr id="22" name="목차 범위 4"/>
          <p:cNvSpPr txBox="1"/>
          <p:nvPr/>
        </p:nvSpPr>
        <p:spPr>
          <a:xfrm>
            <a:off x="9951415" y="4873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12</a:t>
            </a:r>
            <a:endParaRPr lang="ko-KR"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문제 — 추론만 NPU로 옮겨도 CPU는 바쁘다</a:t>
            </a:r>
            <a:endParaRPr lang="ko-KR" sz="2800" dirty="0"/>
          </a:p>
        </p:txBody>
      </p:sp>
      <p:sp>
        <p:nvSpPr>
          <p:cNvPr id="3" name="흐름 라벨"/>
          <p:cNvSpPr txBox="1"/>
          <p:nvPr/>
        </p:nvSpPr>
        <p:spPr>
          <a:xfrm>
            <a:off x="548640" y="1234440"/>
            <a:ext cx="3657600" cy="274320"/>
          </a:xfrm>
          <a:prstGeom prst="rect">
            <a:avLst/>
          </a:prstGeom>
          <a:noFill/>
          <a:ln/>
        </p:spPr>
        <p:txBody>
          <a:bodyPr wrap="square" lIns="0" tIns="0" rIns="0" bIns="0" rtlCol="0" anchor="t"/>
          <a:lstStyle/>
          <a:p>
            <a:pPr indent="0" marL="0">
              <a:buNone/>
            </a:pPr>
            <a:r>
              <a:rPr lang="ko-KR" altLang="en-US" sz="1200" b="1" dirty="0">
                <a:solidFill>
                  <a:schemeClr val="accent2"/>
                </a:solidFill>
              </a:rPr>
              <a:t>한 프레임의 흐름</a:t>
            </a:r>
            <a:endParaRPr lang="ko-KR" sz="1200" dirty="0"/>
          </a:p>
        </p:txBody>
      </p:sp>
      <p:sp>
        <p:nvSpPr>
          <p:cNvPr id="4" name="단계 1"/>
          <p:cNvSpPr/>
          <p:nvPr/>
        </p:nvSpPr>
        <p:spPr>
          <a:xfrm>
            <a:off x="548640" y="1600200"/>
            <a:ext cx="1828800" cy="1188720"/>
          </a:xfrm>
          <a:prstGeom prst="roundRect">
            <a:avLst>
              <a:gd name="adj" fmla="val 6154"/>
            </a:avLst>
          </a:prstGeom>
          <a:solidFill>
            <a:schemeClr val="accent2"/>
          </a:solidFill>
          <a:ln/>
        </p:spPr>
      </p:sp>
      <p:pic>
        <p:nvPicPr>
          <p:cNvPr id="5" name="단계 아이콘 1" descr="디코드">    </p:cNvPr>
          <p:cNvPicPr>
            <a:picLocks noChangeAspect="1"/>
          </p:cNvPicPr>
          <p:nvPr/>
        </p:nvPicPr>
        <p:blipFill>
          <a:blip r:embed="rId1"/>
          <a:stretch>
            <a:fillRect/>
          </a:stretch>
        </p:blipFill>
        <p:spPr>
          <a:xfrm>
            <a:off x="1280160" y="1737360"/>
            <a:ext cx="365760" cy="365760"/>
          </a:xfrm>
          <a:prstGeom prst="rect">
            <a:avLst/>
          </a:prstGeom>
        </p:spPr>
      </p:pic>
      <p:sp>
        <p:nvSpPr>
          <p:cNvPr id="6" name="단계 라벨 1"/>
          <p:cNvSpPr txBox="1"/>
          <p:nvPr/>
        </p:nvSpPr>
        <p:spPr>
          <a:xfrm>
            <a:off x="621792"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디코드</a:t>
            </a:r>
            <a:endParaRPr lang="ko-KR" sz="1500" dirty="0"/>
          </a:p>
        </p:txBody>
      </p:sp>
      <p:sp>
        <p:nvSpPr>
          <p:cNvPr id="7" name="담당 1"/>
          <p:cNvSpPr txBox="1"/>
          <p:nvPr/>
        </p:nvSpPr>
        <p:spPr>
          <a:xfrm>
            <a:off x="548640"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8" name="화살표 1"/>
          <p:cNvSpPr/>
          <p:nvPr/>
        </p:nvSpPr>
        <p:spPr>
          <a:xfrm>
            <a:off x="2450592" y="2194560"/>
            <a:ext cx="341300" cy="0"/>
          </a:xfrm>
          <a:prstGeom prst="line">
            <a:avLst/>
          </a:prstGeom>
          <a:noFill/>
          <a:ln w="25400">
            <a:solidFill>
              <a:srgbClr val="9AAABB"/>
            </a:solidFill>
            <a:prstDash val="solid"/>
            <a:tailEnd type="triangle"/>
          </a:ln>
        </p:spPr>
      </p:sp>
      <p:sp>
        <p:nvSpPr>
          <p:cNvPr id="9" name="단계 2"/>
          <p:cNvSpPr/>
          <p:nvPr/>
        </p:nvSpPr>
        <p:spPr>
          <a:xfrm>
            <a:off x="2865044" y="1600200"/>
            <a:ext cx="1828800" cy="1188720"/>
          </a:xfrm>
          <a:prstGeom prst="roundRect">
            <a:avLst>
              <a:gd name="adj" fmla="val 6154"/>
            </a:avLst>
          </a:prstGeom>
          <a:solidFill>
            <a:schemeClr val="accent2"/>
          </a:solidFill>
          <a:ln/>
        </p:spPr>
      </p:sp>
      <p:pic>
        <p:nvPicPr>
          <p:cNvPr id="10" name="단계 아이콘 2" descr="크기·색·형식 변환">    </p:cNvPr>
          <p:cNvPicPr>
            <a:picLocks noChangeAspect="1"/>
          </p:cNvPicPr>
          <p:nvPr/>
        </p:nvPicPr>
        <p:blipFill>
          <a:blip r:embed="rId2"/>
          <a:stretch>
            <a:fillRect/>
          </a:stretch>
        </p:blipFill>
        <p:spPr>
          <a:xfrm>
            <a:off x="3596564" y="1737360"/>
            <a:ext cx="365760" cy="365760"/>
          </a:xfrm>
          <a:prstGeom prst="rect">
            <a:avLst/>
          </a:prstGeom>
        </p:spPr>
      </p:pic>
      <p:sp>
        <p:nvSpPr>
          <p:cNvPr id="11" name="단계 라벨 2"/>
          <p:cNvSpPr txBox="1"/>
          <p:nvPr/>
        </p:nvSpPr>
        <p:spPr>
          <a:xfrm>
            <a:off x="2938196"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크기·색·형식 변환</a:t>
            </a:r>
            <a:endParaRPr lang="ko-KR" sz="1500" dirty="0"/>
          </a:p>
        </p:txBody>
      </p:sp>
      <p:sp>
        <p:nvSpPr>
          <p:cNvPr id="12" name="담당 2"/>
          <p:cNvSpPr txBox="1"/>
          <p:nvPr/>
        </p:nvSpPr>
        <p:spPr>
          <a:xfrm>
            <a:off x="2865044"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13" name="화살표 2"/>
          <p:cNvSpPr/>
          <p:nvPr/>
        </p:nvSpPr>
        <p:spPr>
          <a:xfrm>
            <a:off x="4766996" y="2194560"/>
            <a:ext cx="341300" cy="0"/>
          </a:xfrm>
          <a:prstGeom prst="line">
            <a:avLst/>
          </a:prstGeom>
          <a:noFill/>
          <a:ln w="25400">
            <a:solidFill>
              <a:srgbClr val="9AAABB"/>
            </a:solidFill>
            <a:prstDash val="solid"/>
            <a:tailEnd type="triangle"/>
          </a:ln>
        </p:spPr>
      </p:sp>
      <p:sp>
        <p:nvSpPr>
          <p:cNvPr id="14" name="단계 3"/>
          <p:cNvSpPr/>
          <p:nvPr/>
        </p:nvSpPr>
        <p:spPr>
          <a:xfrm>
            <a:off x="5181448" y="1600200"/>
            <a:ext cx="1828800" cy="1188720"/>
          </a:xfrm>
          <a:prstGeom prst="roundRect">
            <a:avLst>
              <a:gd name="adj" fmla="val 6154"/>
            </a:avLst>
          </a:prstGeom>
          <a:solidFill>
            <a:schemeClr val="accent1"/>
          </a:solidFill>
          <a:ln/>
        </p:spPr>
      </p:sp>
      <p:pic>
        <p:nvPicPr>
          <p:cNvPr id="15" name="단계 아이콘 3" descr="추론">    </p:cNvPr>
          <p:cNvPicPr>
            <a:picLocks noChangeAspect="1"/>
          </p:cNvPicPr>
          <p:nvPr/>
        </p:nvPicPr>
        <p:blipFill>
          <a:blip r:embed="rId3"/>
          <a:stretch>
            <a:fillRect/>
          </a:stretch>
        </p:blipFill>
        <p:spPr>
          <a:xfrm>
            <a:off x="5912968" y="1737360"/>
            <a:ext cx="365760" cy="365760"/>
          </a:xfrm>
          <a:prstGeom prst="rect">
            <a:avLst/>
          </a:prstGeom>
        </p:spPr>
      </p:pic>
      <p:sp>
        <p:nvSpPr>
          <p:cNvPr id="16" name="단계 라벨 3"/>
          <p:cNvSpPr txBox="1"/>
          <p:nvPr/>
        </p:nvSpPr>
        <p:spPr>
          <a:xfrm>
            <a:off x="5254600"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추론</a:t>
            </a:r>
            <a:endParaRPr lang="ko-KR" sz="1500" dirty="0"/>
          </a:p>
        </p:txBody>
      </p:sp>
      <p:sp>
        <p:nvSpPr>
          <p:cNvPr id="17" name="담당 3"/>
          <p:cNvSpPr txBox="1"/>
          <p:nvPr/>
        </p:nvSpPr>
        <p:spPr>
          <a:xfrm>
            <a:off x="5181448"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1"/>
                </a:solidFill>
              </a:rPr>
              <a:t>NPU 담당</a:t>
            </a:r>
            <a:endParaRPr lang="ko-KR" sz="1300" dirty="0"/>
          </a:p>
        </p:txBody>
      </p:sp>
      <p:sp>
        <p:nvSpPr>
          <p:cNvPr id="18" name="화살표 3"/>
          <p:cNvSpPr/>
          <p:nvPr/>
        </p:nvSpPr>
        <p:spPr>
          <a:xfrm>
            <a:off x="7083400" y="2194560"/>
            <a:ext cx="341300" cy="0"/>
          </a:xfrm>
          <a:prstGeom prst="line">
            <a:avLst/>
          </a:prstGeom>
          <a:noFill/>
          <a:ln w="25400">
            <a:solidFill>
              <a:srgbClr val="9AAABB"/>
            </a:solidFill>
            <a:prstDash val="solid"/>
            <a:tailEnd type="triangle"/>
          </a:ln>
        </p:spPr>
      </p:sp>
      <p:sp>
        <p:nvSpPr>
          <p:cNvPr id="19" name="단계 4"/>
          <p:cNvSpPr/>
          <p:nvPr/>
        </p:nvSpPr>
        <p:spPr>
          <a:xfrm>
            <a:off x="7497851" y="1600200"/>
            <a:ext cx="1828800" cy="1188720"/>
          </a:xfrm>
          <a:prstGeom prst="roundRect">
            <a:avLst>
              <a:gd name="adj" fmla="val 6154"/>
            </a:avLst>
          </a:prstGeom>
          <a:solidFill>
            <a:schemeClr val="accent2"/>
          </a:solidFill>
          <a:ln/>
        </p:spPr>
      </p:sp>
      <p:pic>
        <p:nvPicPr>
          <p:cNvPr id="20" name="단계 아이콘 4" descr="결과 해석 (박스 복원·NMS)">    </p:cNvPr>
          <p:cNvPicPr>
            <a:picLocks noChangeAspect="1"/>
          </p:cNvPicPr>
          <p:nvPr/>
        </p:nvPicPr>
        <p:blipFill>
          <a:blip r:embed="rId4"/>
          <a:stretch>
            <a:fillRect/>
          </a:stretch>
        </p:blipFill>
        <p:spPr>
          <a:xfrm>
            <a:off x="8229371" y="1737360"/>
            <a:ext cx="365760" cy="365760"/>
          </a:xfrm>
          <a:prstGeom prst="rect">
            <a:avLst/>
          </a:prstGeom>
        </p:spPr>
      </p:pic>
      <p:sp>
        <p:nvSpPr>
          <p:cNvPr id="21" name="단계 라벨 4"/>
          <p:cNvSpPr txBox="1"/>
          <p:nvPr/>
        </p:nvSpPr>
        <p:spPr>
          <a:xfrm>
            <a:off x="7571003"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결과 해석</a:t>
            </a:r>
            <a:endParaRPr lang="ko-KR" sz="1500" dirty="0"/>
          </a:p>
          <a:p>
            <a:pPr algn="ctr" indent="0" marL="0">
              <a:buNone/>
            </a:pPr>
            <a:r>
              <a:rPr lang="ko-KR" altLang="en-US" sz="1500" b="1" dirty="0">
                <a:solidFill>
                  <a:schemeClr val="bg1"/>
                </a:solidFill>
              </a:rPr>
              <a:t>(박스 복원·NMS)</a:t>
            </a:r>
            <a:endParaRPr lang="ko-KR" sz="1500" dirty="0"/>
          </a:p>
        </p:txBody>
      </p:sp>
      <p:sp>
        <p:nvSpPr>
          <p:cNvPr id="22" name="담당 4"/>
          <p:cNvSpPr txBox="1"/>
          <p:nvPr/>
        </p:nvSpPr>
        <p:spPr>
          <a:xfrm>
            <a:off x="7497851"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23" name="화살표 4"/>
          <p:cNvSpPr/>
          <p:nvPr/>
        </p:nvSpPr>
        <p:spPr>
          <a:xfrm>
            <a:off x="9399803" y="2194560"/>
            <a:ext cx="341300" cy="0"/>
          </a:xfrm>
          <a:prstGeom prst="line">
            <a:avLst/>
          </a:prstGeom>
          <a:noFill/>
          <a:ln w="25400">
            <a:solidFill>
              <a:srgbClr val="9AAABB"/>
            </a:solidFill>
            <a:prstDash val="solid"/>
            <a:tailEnd type="triangle"/>
          </a:ln>
        </p:spPr>
      </p:sp>
      <p:sp>
        <p:nvSpPr>
          <p:cNvPr id="24" name="단계 5"/>
          <p:cNvSpPr/>
          <p:nvPr/>
        </p:nvSpPr>
        <p:spPr>
          <a:xfrm>
            <a:off x="9814255" y="1600200"/>
            <a:ext cx="1828800" cy="1188720"/>
          </a:xfrm>
          <a:prstGeom prst="roundRect">
            <a:avLst>
              <a:gd name="adj" fmla="val 6154"/>
            </a:avLst>
          </a:prstGeom>
          <a:solidFill>
            <a:schemeClr val="accent2"/>
          </a:solidFill>
          <a:ln/>
        </p:spPr>
      </p:sp>
      <p:pic>
        <p:nvPicPr>
          <p:cNvPr id="25" name="단계 아이콘 5" descr="표시">    </p:cNvPr>
          <p:cNvPicPr>
            <a:picLocks noChangeAspect="1"/>
          </p:cNvPicPr>
          <p:nvPr/>
        </p:nvPicPr>
        <p:blipFill>
          <a:blip r:embed="rId5"/>
          <a:stretch>
            <a:fillRect/>
          </a:stretch>
        </p:blipFill>
        <p:spPr>
          <a:xfrm>
            <a:off x="10545775" y="1737360"/>
            <a:ext cx="365760" cy="365760"/>
          </a:xfrm>
          <a:prstGeom prst="rect">
            <a:avLst/>
          </a:prstGeom>
        </p:spPr>
      </p:pic>
      <p:sp>
        <p:nvSpPr>
          <p:cNvPr id="26" name="단계 라벨 5"/>
          <p:cNvSpPr txBox="1"/>
          <p:nvPr/>
        </p:nvSpPr>
        <p:spPr>
          <a:xfrm>
            <a:off x="9887407"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표시</a:t>
            </a:r>
            <a:endParaRPr lang="ko-KR" sz="1500" dirty="0"/>
          </a:p>
        </p:txBody>
      </p:sp>
      <p:sp>
        <p:nvSpPr>
          <p:cNvPr id="27" name="담당 5"/>
          <p:cNvSpPr txBox="1"/>
          <p:nvPr/>
        </p:nvSpPr>
        <p:spPr>
          <a:xfrm>
            <a:off x="9814255"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28" name="본문"/>
          <p:cNvSpPr txBox="1"/>
          <p:nvPr/>
        </p:nvSpPr>
        <p:spPr>
          <a:xfrm>
            <a:off x="548640" y="3520440"/>
            <a:ext cx="6675120" cy="2514600"/>
          </a:xfrm>
          <a:prstGeom prst="rect">
            <a:avLst/>
          </a:prstGeom>
          <a:noFill/>
          <a:ln/>
        </p:spPr>
        <p:txBody>
          <a:bodyPr wrap="square" lIns="0" tIns="0" rIns="0" bIns="0" rtlCol="0" anchor="ctr"/>
          <a:lstStyle/>
          <a:p>
            <a:pPr marL="228600" indent="-228600">
              <a:spcAft>
                <a:spcPts val="1400"/>
              </a:spcAft>
              <a:buSzPct val="100000"/>
              <a:buChar char="•"/>
            </a:pPr>
            <a:r>
              <a:rPr lang="ko-KR" altLang="en-US" sz="1600" dirty="0">
                <a:solidFill>
                  <a:schemeClr val="tx1"/>
                </a:solidFill>
              </a:rPr>
              <a:t>추론만 NPU가 맡으면 나머지는 CPU가 하며, 프레임마다 수 MB를 읽고 쓴다</a:t>
            </a:r>
            <a:endParaRPr lang="ko-KR" sz="1600" dirty="0"/>
          </a:p>
          <a:p>
            <a:pPr marL="228600" indent="-228600">
              <a:spcAft>
                <a:spcPts val="1400"/>
              </a:spcAft>
              <a:buSzPct val="100000"/>
              <a:buChar char="•"/>
            </a:pPr>
            <a:r>
              <a:rPr lang="ko-KR" altLang="en-US" sz="1600" dirty="0">
                <a:solidFill>
                  <a:schemeClr val="tx1"/>
                </a:solidFill>
              </a:rPr>
              <a:t>스마트폰·서버에서도 추론 밖 전·후처리와 데이터 이동이 종단간 성능을 좌우한다는 보고가 있다 [1][2]</a:t>
            </a:r>
            <a:endParaRPr lang="ko-KR" sz="1600" dirty="0"/>
          </a:p>
        </p:txBody>
      </p:sp>
      <p:sp>
        <p:nvSpPr>
          <p:cNvPr id="29" name="출발점 카드"/>
          <p:cNvSpPr/>
          <p:nvPr/>
        </p:nvSpPr>
        <p:spPr>
          <a:xfrm>
            <a:off x="7680960" y="3520440"/>
            <a:ext cx="3962095" cy="2514600"/>
          </a:xfrm>
          <a:prstGeom prst="roundRect">
            <a:avLst>
              <a:gd name="adj" fmla="val 2909"/>
            </a:avLst>
          </a:prstGeom>
          <a:solidFill>
            <a:schemeClr val="bg2"/>
          </a:solidFill>
          <a:ln/>
        </p:spPr>
      </p:sp>
      <p:sp>
        <p:nvSpPr>
          <p:cNvPr id="30" name="출발점 수치"/>
          <p:cNvSpPr txBox="1"/>
          <p:nvPr/>
        </p:nvSpPr>
        <p:spPr>
          <a:xfrm>
            <a:off x="7955280" y="3749040"/>
            <a:ext cx="3413455" cy="2103120"/>
          </a:xfrm>
          <a:prstGeom prst="rect">
            <a:avLst/>
          </a:prstGeom>
          <a:noFill/>
          <a:ln/>
        </p:spPr>
        <p:txBody>
          <a:bodyPr wrap="square" lIns="0" tIns="0" rIns="0" bIns="0" rtlCol="0" anchor="ctr"/>
          <a:lstStyle/>
          <a:p>
            <a:pPr indent="0" marL="0">
              <a:buNone/>
            </a:pPr>
            <a:r>
              <a:rPr lang="ko-KR" altLang="en-US" sz="1400" b="1" dirty="0">
                <a:solidFill>
                  <a:schemeClr val="accent2"/>
                </a:solidFill>
              </a:rPr>
              <a:t>출발점 · 배치 1 응용 CPU</a:t>
            </a:r>
            <a:endParaRPr lang="ko-KR" sz="1600" dirty="0"/>
          </a:p>
          <a:p>
            <a:pPr indent="0" marL="0">
              <a:buNone/>
            </a:pPr>
            <a:r>
              <a:rPr lang="ko-KR" altLang="en-US" sz="6000" b="1" dirty="0">
                <a:solidFill>
                  <a:schemeClr val="accent1"/>
                </a:solidFill>
              </a:rPr>
              <a:t>17.6</a:t>
            </a:r>
            <a:r>
              <a:rPr lang="ko-KR" altLang="en-US" sz="2000" b="1" dirty="0">
                <a:solidFill>
                  <a:schemeClr val="accent1"/>
                </a:solidFill>
              </a:rPr>
              <a:t> ms/프레임</a:t>
            </a:r>
            <a:endParaRPr lang="ko-KR" sz="1600" dirty="0"/>
          </a:p>
          <a:p>
            <a:pPr indent="0" marL="0">
              <a:buNone/>
            </a:pPr>
            <a:r>
              <a:rPr lang="ko-KR" altLang="en-US" sz="1600" dirty="0">
                <a:solidFill>
                  <a:schemeClr val="tx1"/>
                </a:solidFill>
              </a:rPr>
              <a:t>한 코어의 40% 이상</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대상 시스템과 운용 기준</a:t>
            </a:r>
            <a:endParaRPr lang="ko-KR" sz="2800" dirty="0"/>
          </a:p>
        </p:txBody>
      </p:sp>
      <p:sp>
        <p:nvSpPr>
          <p:cNvPr id="3" name="시스템 카드 보드"/>
          <p:cNvSpPr/>
          <p:nvPr/>
        </p:nvSpPr>
        <p:spPr>
          <a:xfrm>
            <a:off x="548640" y="1371600"/>
            <a:ext cx="3291840" cy="2194560"/>
          </a:xfrm>
          <a:prstGeom prst="roundRect">
            <a:avLst>
              <a:gd name="adj" fmla="val 3333"/>
            </a:avLst>
          </a:prstGeom>
          <a:solidFill>
            <a:schemeClr val="bg2"/>
          </a:solidFill>
          <a:ln/>
        </p:spPr>
      </p:sp>
      <p:sp>
        <p:nvSpPr>
          <p:cNvPr id="4" name="아이콘 원 보드"/>
          <p:cNvSpPr/>
          <p:nvPr/>
        </p:nvSpPr>
        <p:spPr>
          <a:xfrm>
            <a:off x="822960" y="1645920"/>
            <a:ext cx="640080" cy="640080"/>
          </a:xfrm>
          <a:prstGeom prst="ellipse">
            <a:avLst/>
          </a:prstGeom>
          <a:solidFill>
            <a:schemeClr val="bg1"/>
          </a:solidFill>
          <a:ln/>
        </p:spPr>
      </p:sp>
      <p:pic>
        <p:nvPicPr>
          <p:cNvPr id="5" name="아이콘 보드" descr="보드">    </p:cNvPr>
          <p:cNvPicPr>
            <a:picLocks noChangeAspect="1"/>
          </p:cNvPicPr>
          <p:nvPr/>
        </p:nvPicPr>
        <p:blipFill>
          <a:blip r:embed="rId1"/>
          <a:stretch>
            <a:fillRect/>
          </a:stretch>
        </p:blipFill>
        <p:spPr>
          <a:xfrm>
            <a:off x="960120" y="1783080"/>
            <a:ext cx="365760" cy="365760"/>
          </a:xfrm>
          <a:prstGeom prst="rect">
            <a:avLst/>
          </a:prstGeom>
        </p:spPr>
      </p:pic>
      <p:sp>
        <p:nvSpPr>
          <p:cNvPr id="6" name="라벨 보드"/>
          <p:cNvSpPr txBox="1"/>
          <p:nvPr/>
        </p:nvSpPr>
        <p:spPr>
          <a:xfrm>
            <a:off x="1645920" y="164592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보드</a:t>
            </a:r>
            <a:endParaRPr lang="ko-KR" sz="1600" dirty="0"/>
          </a:p>
        </p:txBody>
      </p:sp>
      <p:sp>
        <p:nvSpPr>
          <p:cNvPr id="7" name="값 보드"/>
          <p:cNvSpPr txBox="1"/>
          <p:nvPr/>
        </p:nvSpPr>
        <p:spPr>
          <a:xfrm>
            <a:off x="822960" y="242316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Raspberry Pi Compute Module 5 [3]</a:t>
            </a:r>
            <a:endParaRPr lang="ko-KR" sz="1800" dirty="0"/>
          </a:p>
        </p:txBody>
      </p:sp>
      <p:sp>
        <p:nvSpPr>
          <p:cNvPr id="8" name="시스템 카드 NPU"/>
          <p:cNvSpPr/>
          <p:nvPr/>
        </p:nvSpPr>
        <p:spPr>
          <a:xfrm>
            <a:off x="4114800" y="1371600"/>
            <a:ext cx="3291840" cy="2194560"/>
          </a:xfrm>
          <a:prstGeom prst="roundRect">
            <a:avLst>
              <a:gd name="adj" fmla="val 3333"/>
            </a:avLst>
          </a:prstGeom>
          <a:solidFill>
            <a:schemeClr val="bg2"/>
          </a:solidFill>
          <a:ln/>
        </p:spPr>
      </p:sp>
      <p:sp>
        <p:nvSpPr>
          <p:cNvPr id="9" name="아이콘 원 NPU"/>
          <p:cNvSpPr/>
          <p:nvPr/>
        </p:nvSpPr>
        <p:spPr>
          <a:xfrm>
            <a:off x="4389120" y="1645920"/>
            <a:ext cx="640080" cy="640080"/>
          </a:xfrm>
          <a:prstGeom prst="ellipse">
            <a:avLst/>
          </a:prstGeom>
          <a:solidFill>
            <a:schemeClr val="bg1"/>
          </a:solidFill>
          <a:ln/>
        </p:spPr>
      </p:sp>
      <p:pic>
        <p:nvPicPr>
          <p:cNvPr id="10" name="아이콘 NPU" descr="NPU">    </p:cNvPr>
          <p:cNvPicPr>
            <a:picLocks noChangeAspect="1"/>
          </p:cNvPicPr>
          <p:nvPr/>
        </p:nvPicPr>
        <p:blipFill>
          <a:blip r:embed="rId2"/>
          <a:stretch>
            <a:fillRect/>
          </a:stretch>
        </p:blipFill>
        <p:spPr>
          <a:xfrm>
            <a:off x="4526280" y="1783080"/>
            <a:ext cx="365760" cy="365760"/>
          </a:xfrm>
          <a:prstGeom prst="rect">
            <a:avLst/>
          </a:prstGeom>
        </p:spPr>
      </p:pic>
      <p:sp>
        <p:nvSpPr>
          <p:cNvPr id="11" name="라벨 NPU"/>
          <p:cNvSpPr txBox="1"/>
          <p:nvPr/>
        </p:nvSpPr>
        <p:spPr>
          <a:xfrm>
            <a:off x="5212080" y="164592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NPU</a:t>
            </a:r>
            <a:endParaRPr lang="ko-KR" sz="1600" dirty="0"/>
          </a:p>
        </p:txBody>
      </p:sp>
      <p:sp>
        <p:nvSpPr>
          <p:cNvPr id="12" name="값 NPU"/>
          <p:cNvSpPr txBox="1"/>
          <p:nvPr/>
        </p:nvSpPr>
        <p:spPr>
          <a:xfrm>
            <a:off x="4389120" y="242316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Hailo-8 (PCIe)</a:t>
            </a:r>
            <a:endParaRPr lang="ko-KR" sz="1800" dirty="0"/>
          </a:p>
          <a:p>
            <a:pPr indent="0" marL="0">
              <a:buNone/>
            </a:pPr>
            <a:r>
              <a:rPr lang="ko-KR" altLang="en-US" sz="1800" b="1" dirty="0">
                <a:solidFill>
                  <a:schemeClr val="tx1"/>
                </a:solidFill>
              </a:rPr>
              <a:t>런타임 HailoRT 4.24.0 [4]</a:t>
            </a:r>
            <a:endParaRPr lang="ko-KR" sz="1800" dirty="0"/>
          </a:p>
        </p:txBody>
      </p:sp>
      <p:sp>
        <p:nvSpPr>
          <p:cNvPr id="13" name="시스템 카드 모델"/>
          <p:cNvSpPr/>
          <p:nvPr/>
        </p:nvSpPr>
        <p:spPr>
          <a:xfrm>
            <a:off x="548640" y="3840480"/>
            <a:ext cx="3291840" cy="2194560"/>
          </a:xfrm>
          <a:prstGeom prst="roundRect">
            <a:avLst>
              <a:gd name="adj" fmla="val 3333"/>
            </a:avLst>
          </a:prstGeom>
          <a:solidFill>
            <a:schemeClr val="bg2"/>
          </a:solidFill>
          <a:ln/>
        </p:spPr>
      </p:sp>
      <p:sp>
        <p:nvSpPr>
          <p:cNvPr id="14" name="아이콘 원 모델"/>
          <p:cNvSpPr/>
          <p:nvPr/>
        </p:nvSpPr>
        <p:spPr>
          <a:xfrm>
            <a:off x="822960" y="4114800"/>
            <a:ext cx="640080" cy="640080"/>
          </a:xfrm>
          <a:prstGeom prst="ellipse">
            <a:avLst/>
          </a:prstGeom>
          <a:solidFill>
            <a:schemeClr val="bg1"/>
          </a:solidFill>
          <a:ln/>
        </p:spPr>
      </p:sp>
      <p:pic>
        <p:nvPicPr>
          <p:cNvPr id="15" name="아이콘 모델" descr="모델">    </p:cNvPr>
          <p:cNvPicPr>
            <a:picLocks noChangeAspect="1"/>
          </p:cNvPicPr>
          <p:nvPr/>
        </p:nvPicPr>
        <p:blipFill>
          <a:blip r:embed="rId3"/>
          <a:stretch>
            <a:fillRect/>
          </a:stretch>
        </p:blipFill>
        <p:spPr>
          <a:xfrm>
            <a:off x="960120" y="4251960"/>
            <a:ext cx="365760" cy="365760"/>
          </a:xfrm>
          <a:prstGeom prst="rect">
            <a:avLst/>
          </a:prstGeom>
        </p:spPr>
      </p:pic>
      <p:sp>
        <p:nvSpPr>
          <p:cNvPr id="16" name="라벨 모델"/>
          <p:cNvSpPr txBox="1"/>
          <p:nvPr/>
        </p:nvSpPr>
        <p:spPr>
          <a:xfrm>
            <a:off x="1645920" y="411480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모델</a:t>
            </a:r>
            <a:endParaRPr lang="ko-KR" sz="1600" dirty="0"/>
          </a:p>
        </p:txBody>
      </p:sp>
      <p:sp>
        <p:nvSpPr>
          <p:cNvPr id="17" name="값 모델"/>
          <p:cNvSpPr txBox="1"/>
          <p:nvPr/>
        </p:nvSpPr>
        <p:spPr>
          <a:xfrm>
            <a:off x="822960" y="489204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YOLO11m [5]</a:t>
            </a:r>
            <a:endParaRPr lang="ko-KR" sz="1800" dirty="0"/>
          </a:p>
        </p:txBody>
      </p:sp>
      <p:sp>
        <p:nvSpPr>
          <p:cNvPr id="18" name="시스템 카드 입력"/>
          <p:cNvSpPr/>
          <p:nvPr/>
        </p:nvSpPr>
        <p:spPr>
          <a:xfrm>
            <a:off x="4114800" y="3840480"/>
            <a:ext cx="3291840" cy="2194560"/>
          </a:xfrm>
          <a:prstGeom prst="roundRect">
            <a:avLst>
              <a:gd name="adj" fmla="val 3333"/>
            </a:avLst>
          </a:prstGeom>
          <a:solidFill>
            <a:schemeClr val="bg2"/>
          </a:solidFill>
          <a:ln/>
        </p:spPr>
      </p:sp>
      <p:sp>
        <p:nvSpPr>
          <p:cNvPr id="19" name="아이콘 원 입력"/>
          <p:cNvSpPr/>
          <p:nvPr/>
        </p:nvSpPr>
        <p:spPr>
          <a:xfrm>
            <a:off x="4389120" y="4114800"/>
            <a:ext cx="640080" cy="640080"/>
          </a:xfrm>
          <a:prstGeom prst="ellipse">
            <a:avLst/>
          </a:prstGeom>
          <a:solidFill>
            <a:schemeClr val="bg1"/>
          </a:solidFill>
          <a:ln/>
        </p:spPr>
      </p:sp>
      <p:pic>
        <p:nvPicPr>
          <p:cNvPr id="20" name="아이콘 입력" descr="입력">    </p:cNvPr>
          <p:cNvPicPr>
            <a:picLocks noChangeAspect="1"/>
          </p:cNvPicPr>
          <p:nvPr/>
        </p:nvPicPr>
        <p:blipFill>
          <a:blip r:embed="rId4"/>
          <a:stretch>
            <a:fillRect/>
          </a:stretch>
        </p:blipFill>
        <p:spPr>
          <a:xfrm>
            <a:off x="4526280" y="4251960"/>
            <a:ext cx="365760" cy="365760"/>
          </a:xfrm>
          <a:prstGeom prst="rect">
            <a:avLst/>
          </a:prstGeom>
        </p:spPr>
      </p:pic>
      <p:sp>
        <p:nvSpPr>
          <p:cNvPr id="21" name="라벨 입력"/>
          <p:cNvSpPr txBox="1"/>
          <p:nvPr/>
        </p:nvSpPr>
        <p:spPr>
          <a:xfrm>
            <a:off x="5212080" y="411480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입력</a:t>
            </a:r>
            <a:endParaRPr lang="ko-KR" sz="1600" dirty="0"/>
          </a:p>
        </p:txBody>
      </p:sp>
      <p:sp>
        <p:nvSpPr>
          <p:cNvPr id="22" name="값 입력"/>
          <p:cNvSpPr txBox="1"/>
          <p:nvPr/>
        </p:nvSpPr>
        <p:spPr>
          <a:xfrm>
            <a:off x="4389120" y="489204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HEVC 영상</a:t>
            </a:r>
            <a:endParaRPr lang="ko-KR" sz="1800" dirty="0"/>
          </a:p>
          <a:p>
            <a:pPr indent="0" marL="0">
              <a:buNone/>
            </a:pPr>
            <a:r>
              <a:rPr lang="ko-KR" altLang="en-US" sz="1800" b="1" dirty="0">
                <a:solidFill>
                  <a:schemeClr val="tx1"/>
                </a:solidFill>
              </a:rPr>
              <a:t>(SoC 하드웨어 디코더)</a:t>
            </a:r>
            <a:endParaRPr lang="ko-KR" sz="1800" dirty="0"/>
          </a:p>
        </p:txBody>
      </p:sp>
      <p:sp>
        <p:nvSpPr>
          <p:cNvPr id="23" name="운용 기준 패널"/>
          <p:cNvSpPr/>
          <p:nvPr/>
        </p:nvSpPr>
        <p:spPr>
          <a:xfrm>
            <a:off x="7772400" y="1371600"/>
            <a:ext cx="3870655" cy="4663440"/>
          </a:xfrm>
          <a:prstGeom prst="roundRect">
            <a:avLst>
              <a:gd name="adj" fmla="val 1890"/>
            </a:avLst>
          </a:prstGeom>
          <a:solidFill>
            <a:schemeClr val="tx2"/>
          </a:solidFill>
          <a:ln/>
        </p:spPr>
      </p:sp>
      <p:pic>
        <p:nvPicPr>
          <p:cNvPr id="24" name="운용 기준 아이콘" descr="지연">    </p:cNvPr>
          <p:cNvPicPr>
            <a:picLocks noChangeAspect="1"/>
          </p:cNvPicPr>
          <p:nvPr/>
        </p:nvPicPr>
        <p:blipFill>
          <a:blip r:embed="rId5"/>
          <a:stretch>
            <a:fillRect/>
          </a:stretch>
        </p:blipFill>
        <p:spPr>
          <a:xfrm>
            <a:off x="8138160" y="2240280"/>
            <a:ext cx="548640" cy="548640"/>
          </a:xfrm>
          <a:prstGeom prst="rect">
            <a:avLst/>
          </a:prstGeom>
        </p:spPr>
      </p:pic>
      <p:sp>
        <p:nvSpPr>
          <p:cNvPr id="25" name="운용 기준 문구"/>
          <p:cNvSpPr txBox="1"/>
          <p:nvPr/>
        </p:nvSpPr>
        <p:spPr>
          <a:xfrm>
            <a:off x="8138160" y="2971800"/>
            <a:ext cx="3230575" cy="2011680"/>
          </a:xfrm>
          <a:prstGeom prst="rect">
            <a:avLst/>
          </a:prstGeom>
          <a:noFill/>
          <a:ln/>
        </p:spPr>
        <p:txBody>
          <a:bodyPr wrap="square" lIns="0" tIns="0" rIns="0" bIns="0" rtlCol="0" anchor="t"/>
          <a:lstStyle/>
          <a:p>
            <a:pPr indent="0" marL="0">
              <a:spcAft>
                <a:spcPts val="600"/>
              </a:spcAft>
              <a:buNone/>
            </a:pPr>
            <a:r>
              <a:rPr lang="ko-KR" altLang="en-US" sz="1600" b="1" dirty="0">
                <a:solidFill>
                  <a:schemeClr val="accent3"/>
                </a:solidFill>
              </a:rPr>
              <a:t>운용 기준</a:t>
            </a:r>
            <a:endParaRPr lang="ko-KR" sz="1600" dirty="0"/>
          </a:p>
          <a:p>
            <a:pPr indent="0" marL="0">
              <a:spcAft>
                <a:spcPts val="600"/>
              </a:spcAft>
              <a:buNone/>
            </a:pPr>
            <a:r>
              <a:rPr lang="ko-KR" altLang="en-US" sz="2000" dirty="0">
                <a:solidFill>
                  <a:schemeClr val="bg1"/>
                </a:solidFill>
              </a:rPr>
              <a:t>처리량(FPS)이 아니라</a:t>
            </a:r>
            <a:endParaRPr lang="ko-KR" sz="1600" dirty="0"/>
          </a:p>
          <a:p>
            <a:pPr indent="0" marL="0">
              <a:spcAft>
                <a:spcPts val="600"/>
              </a:spcAft>
              <a:buNone/>
            </a:pPr>
            <a:r>
              <a:rPr lang="ko-KR" altLang="en-US" sz="4400" b="1" dirty="0">
                <a:solidFill>
                  <a:schemeClr val="accent6"/>
                </a:solidFill>
              </a:rPr>
              <a:t>최저 지연</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전체 구조 — 데이터는 하드웨어끼리, CPU는 지휘만</a:t>
            </a:r>
            <a:endParaRPr lang="ko-KR" sz="2800" dirty="0"/>
          </a:p>
        </p:txBody>
      </p:sp>
      <p:pic>
        <p:nvPicPr>
          <p:cNvPr id="3" name="그림 1 전체 구조" descr="그림 1. CPU 최소화 기술의 전체 구조: 영상 입력 → 하드웨어 디코더 → GPU 전처리(NHCW) → NPU → GPU 후처리(NMS) → 화면, CPU는 점선으로 제어만">    </p:cNvPr>
          <p:cNvPicPr>
            <a:picLocks noChangeAspect="1"/>
          </p:cNvPicPr>
          <p:nvPr/>
        </p:nvPicPr>
        <p:blipFill>
          <a:blip r:embed="rId1"/>
          <a:stretch>
            <a:fillRect/>
          </a:stretch>
        </p:blipFill>
        <p:spPr>
          <a:xfrm>
            <a:off x="975208" y="1188720"/>
            <a:ext cx="10241280" cy="4638921"/>
          </a:xfrm>
          <a:prstGeom prst="rect">
            <a:avLst/>
          </a:prstGeom>
        </p:spPr>
      </p:pic>
      <p:sp>
        <p:nvSpPr>
          <p:cNvPr id="4" name="그림 캡션"/>
          <p:cNvSpPr txBox="1"/>
          <p:nvPr/>
        </p:nvSpPr>
        <p:spPr>
          <a:xfrm>
            <a:off x="975208" y="5919081"/>
            <a:ext cx="10241280" cy="320040"/>
          </a:xfrm>
          <a:prstGeom prst="rect">
            <a:avLst/>
          </a:prstGeom>
          <a:noFill/>
          <a:ln/>
        </p:spPr>
        <p:txBody>
          <a:bodyPr wrap="square" lIns="0" tIns="0" rIns="0" bIns="0" rtlCol="0" anchor="t"/>
          <a:lstStyle/>
          <a:p>
            <a:pPr indent="0" marL="0">
              <a:buNone/>
            </a:pPr>
            <a:r>
              <a:rPr lang="ko-KR" altLang="en-US" sz="1200" dirty="0">
                <a:solidFill>
                  <a:schemeClr val="accent2"/>
                </a:solidFill>
              </a:rPr>
              <a:t>굵은 실선 = dma-buf로 복사 없이 넘기는 데이터 · 가는 실선 = CPU를 거치는 작은 데이터 · 점선 = CPU 제어 · ①~⑤ = 다섯 기술</a:t>
            </a:r>
            <a:endParaRPr lang="ko-KR"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① 하드웨어 디코더 + 제로 카피(dma-buf)</a:t>
            </a:r>
            <a:endParaRPr lang="ko-KR" sz="2800" dirty="0"/>
          </a:p>
        </p:txBody>
      </p:sp>
      <p:pic>
        <p:nvPicPr>
          <p:cNvPr id="3" name="블록 다이어그램" descr="일반 경로는 CPU가 소프트웨어로 디코드해 CPU 메모리에서 GPU로 복사하고, 바뀐 경로는 하드웨어 디코더가 푼 프레임을 dma-buf로 GPU에 바로 넘기며 CPU는 지휘만 한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a) 소프트웨어 대 하드웨어 디코드" descr=""/>
          <p:cNvGraphicFramePr/>
          <p:nvPr/>
        </p:nvGraphicFramePr>
        <p:xfrm>
          <a:off x="548640" y="4284681"/>
          <a:ext cx="5364328" cy="1234440"/>
        </p:xfrm>
        <a:graphic xmlns:a="http://schemas.openxmlformats.org/drawingml/2006/main">
          <a:graphicData uri="http://schemas.openxmlformats.org/drawingml/2006/chart">
            <c:chart xmlns:c="http://schemas.openxmlformats.org/drawingml/2006/chart" r:id="rId2"/>
          </a:graphicData>
        </a:graphic>
      </p:graphicFrame>
      <p:sp>
        <p:nvSpPr>
          <p:cNvPr id="5" name="차트 제목 (a)"/>
          <p:cNvSpPr txBox="1"/>
          <p:nvPr/>
        </p:nvSpPr>
        <p:spPr>
          <a:xfrm>
            <a:off x="548640" y="4037793"/>
            <a:ext cx="5364328" cy="237744"/>
          </a:xfrm>
          <a:prstGeom prst="rect">
            <a:avLst/>
          </a:prstGeom>
          <a:noFill/>
          <a:ln/>
        </p:spPr>
        <p:txBody>
          <a:bodyPr wrap="square" lIns="0" tIns="0" rIns="0" bIns="0" rtlCol="0" anchor="ctr"/>
          <a:lstStyle/>
          <a:p>
            <a:pPr algn="ctr" indent="0" marL="0">
              <a:buNone/>
            </a:pPr>
            <a:r>
              <a:rPr lang="ko-KR" altLang="en-US" sz="1200" b="1" dirty="0">
                <a:solidFill>
                  <a:schemeClr val="tx1"/>
                </a:solidFill>
              </a:rPr>
              <a:t>(a) 소프트웨어 대 하드웨어 (ms/프레임)</a:t>
            </a:r>
            <a:endParaRPr lang="ko-KR" sz="1200" dirty="0"/>
          </a:p>
        </p:txBody>
      </p:sp>
      <p:sp>
        <p:nvSpPr>
          <p:cNvPr id="6" name="값 라벨 31.8"/>
          <p:cNvSpPr txBox="1"/>
          <p:nvPr/>
        </p:nvSpPr>
        <p:spPr>
          <a:xfrm>
            <a:off x="4871070" y="4422070"/>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31.8</a:t>
            </a:r>
            <a:endParaRPr lang="ko-KR" sz="1300" dirty="0"/>
          </a:p>
        </p:txBody>
      </p:sp>
      <p:sp>
        <p:nvSpPr>
          <p:cNvPr id="7" name="값 라벨 0.23~0.28"/>
          <p:cNvSpPr txBox="1"/>
          <p:nvPr/>
        </p:nvSpPr>
        <p:spPr>
          <a:xfrm>
            <a:off x="2546171" y="4854124"/>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0.23~0.28</a:t>
            </a:r>
            <a:endParaRPr lang="ko-KR" sz="1300" dirty="0"/>
          </a:p>
        </p:txBody>
      </p:sp>
      <p:graphicFrame>
        <p:nvGraphicFramePr>
          <p:cNvPr id="8" name="차트 (b) 하드웨어 출력 경로별" descr=""/>
          <p:cNvGraphicFramePr/>
          <p:nvPr/>
        </p:nvGraphicFramePr>
        <p:xfrm>
          <a:off x="6278728" y="4284681"/>
          <a:ext cx="5364328" cy="1234440"/>
        </p:xfrm>
        <a:graphic xmlns:a="http://schemas.openxmlformats.org/drawingml/2006/main">
          <a:graphicData uri="http://schemas.openxmlformats.org/drawingml/2006/chart">
            <c:chart xmlns:c="http://schemas.openxmlformats.org/drawingml/2006/chart" r:id="rId3"/>
          </a:graphicData>
        </a:graphic>
      </p:graphicFrame>
      <p:sp>
        <p:nvSpPr>
          <p:cNvPr id="9" name="차트 제목 (b)"/>
          <p:cNvSpPr txBox="1"/>
          <p:nvPr/>
        </p:nvSpPr>
        <p:spPr>
          <a:xfrm>
            <a:off x="6278728" y="4037793"/>
            <a:ext cx="5364328" cy="237744"/>
          </a:xfrm>
          <a:prstGeom prst="rect">
            <a:avLst/>
          </a:prstGeom>
          <a:noFill/>
          <a:ln/>
        </p:spPr>
        <p:txBody>
          <a:bodyPr wrap="square" lIns="0" tIns="0" rIns="0" bIns="0" rtlCol="0" anchor="ctr"/>
          <a:lstStyle/>
          <a:p>
            <a:pPr algn="ctr" indent="0" marL="0">
              <a:buNone/>
            </a:pPr>
            <a:r>
              <a:rPr lang="ko-KR" altLang="en-US" sz="1200" b="1" dirty="0">
                <a:solidFill>
                  <a:schemeClr val="tx1"/>
                </a:solidFill>
              </a:rPr>
              <a:t>(b) 하드웨어 출력 경로별 · 확대 (ms/프레임)</a:t>
            </a:r>
            <a:endParaRPr lang="ko-KR" sz="1200" dirty="0"/>
          </a:p>
        </p:txBody>
      </p:sp>
      <p:sp>
        <p:nvSpPr>
          <p:cNvPr id="10" name="값 라벨 2.02"/>
          <p:cNvSpPr txBox="1"/>
          <p:nvPr/>
        </p:nvSpPr>
        <p:spPr>
          <a:xfrm>
            <a:off x="10639513" y="4350061"/>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2.02</a:t>
            </a:r>
            <a:endParaRPr lang="ko-KR" sz="1300" dirty="0"/>
          </a:p>
        </p:txBody>
      </p:sp>
      <p:sp>
        <p:nvSpPr>
          <p:cNvPr id="11" name="값 라벨 0.55"/>
          <p:cNvSpPr txBox="1"/>
          <p:nvPr/>
        </p:nvSpPr>
        <p:spPr>
          <a:xfrm>
            <a:off x="8904689" y="4638097"/>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0.55</a:t>
            </a:r>
            <a:endParaRPr lang="ko-KR" sz="1300" dirty="0"/>
          </a:p>
        </p:txBody>
      </p:sp>
      <p:sp>
        <p:nvSpPr>
          <p:cNvPr id="12" name="값 라벨 0.23~0.28"/>
          <p:cNvSpPr txBox="1"/>
          <p:nvPr/>
        </p:nvSpPr>
        <p:spPr>
          <a:xfrm>
            <a:off x="8586048" y="4926133"/>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0.23~0.28</a:t>
            </a:r>
            <a:endParaRPr lang="ko-KR" sz="1300" dirty="0"/>
          </a:p>
        </p:txBody>
      </p:sp>
      <p:sp>
        <p:nvSpPr>
          <p:cNvPr id="13" name="한 줄 메시지"/>
          <p:cNvSpPr txBox="1"/>
          <p:nvPr/>
        </p:nvSpPr>
        <p:spPr>
          <a:xfrm>
            <a:off x="548640" y="5546553"/>
            <a:ext cx="11094415" cy="274320"/>
          </a:xfrm>
          <a:prstGeom prst="rect">
            <a:avLst/>
          </a:prstGeom>
          <a:noFill/>
          <a:ln/>
        </p:spPr>
        <p:txBody>
          <a:bodyPr wrap="square" lIns="0" tIns="0" rIns="0" bIns="0" rtlCol="0" anchor="ctr"/>
          <a:lstStyle/>
          <a:p>
            <a:pPr indent="0" marL="0">
              <a:buNone/>
            </a:pPr>
            <a:r>
              <a:rPr lang="ko-KR" altLang="en-US" sz="1400" dirty="0">
                <a:solidFill>
                  <a:schemeClr val="tx1"/>
                </a:solidFill>
              </a:rPr>
              <a:t>같은 하드웨어 디코드라도 </a:t>
            </a:r>
            <a:r>
              <a:rPr lang="ko-KR" altLang="en-US" sz="1400" b="1" dirty="0">
                <a:solidFill>
                  <a:schemeClr val="accent1"/>
                </a:solidFill>
              </a:rPr>
              <a:t>CPU로 내려받으면 약 3.6배</a:t>
            </a:r>
            <a:r>
              <a:rPr lang="ko-KR" altLang="en-US" sz="1400" dirty="0">
                <a:solidFill>
                  <a:schemeClr val="tx1"/>
                </a:solidFill>
              </a:rPr>
              <a:t> (명령행 기준 2.02 대 0.55 ms) — 비용은 디코드가 아니라 복사</a:t>
            </a:r>
            <a:endParaRPr lang="ko-KR" sz="1400" dirty="0"/>
          </a:p>
        </p:txBody>
      </p:sp>
      <p:sp>
        <p:nvSpPr>
          <p:cNvPr id="14" name="각주"/>
          <p:cNvSpPr txBox="1"/>
          <p:nvPr/>
        </p:nvSpPr>
        <p:spPr>
          <a:xfrm>
            <a:off x="548640" y="5839161"/>
            <a:ext cx="11094415" cy="475488"/>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(a)의 소프트웨어 값은 GStreamer avdec_h265 측정(2026-09-20), 하드웨어 값은 ffmpeg 명령행·응용 측정(2026-09-29 이후)으로 측정 날짜·도구가 다르다. 모두 1080p HEVC 1,816프레임, 디코드만, 3회 중앙값</a:t>
            </a:r>
            <a:endParaRPr lang="ko-KR" sz="1600" dirty="0"/>
          </a:p>
          <a:p>
            <a:pPr marL="127000" indent="-127000">
              <a:spcAft>
                <a:spcPts val="100"/>
              </a:spcAft>
              <a:buSzPct val="100000"/>
              <a:buChar char="•"/>
            </a:pPr>
            <a:r>
              <a:rPr lang="ko-KR" altLang="en-US" sz="1000" dirty="0">
                <a:solidFill>
                  <a:schemeClr val="accent2"/>
                </a:solidFill>
              </a:rPr>
              <a:t>소프트웨어 = avdec_h265 자동 스레드 · 명령행 = ffmpeg (내려받음: 출력 형식 미지정 → yuv420p, 유지: DRM_PRIME) · 응용 = libavcodec DRM_PRIME</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② NPU가 원하는 형식(NHCW)을 GPU가 바로 만든다</a:t>
            </a:r>
            <a:endParaRPr lang="ko-KR" sz="2800" dirty="0"/>
          </a:p>
        </p:txBody>
      </p:sp>
      <p:pic>
        <p:nvPicPr>
          <p:cNvPr id="3" name="블록 다이어그램" descr="이전 경로는 CPU가 캐시되지 않는 GPU 메모리의 NHWC 버퍼를 바이트 단위로 읽어 NHCW로 바꾼 뒤 NPU에 넘기고, 바뀐 경로는 GPU 전처리 셰이더가 처음부터 NHCW로 써서 dma-buf로 NPU에 바로 넘긴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응용 CPU 17.6 대 3.3" descr=""/>
          <p:cNvGraphicFramePr/>
          <p:nvPr/>
        </p:nvGraphicFramePr>
        <p:xfrm>
          <a:off x="548640" y="4037793"/>
          <a:ext cx="3931920" cy="1951527"/>
        </p:xfrm>
        <a:graphic xmlns:a="http://schemas.openxmlformats.org/drawingml/2006/main">
          <a:graphicData uri="http://schemas.openxmlformats.org/drawingml/2006/chart">
            <c:chart xmlns:c="http://schemas.openxmlformats.org/drawingml/2006/chart" r:id="rId2"/>
          </a:graphicData>
        </a:graphic>
      </p:graphicFrame>
      <p:sp>
        <p:nvSpPr>
          <p:cNvPr id="5" name="전치 루프 라벨"/>
          <p:cNvSpPr txBox="1"/>
          <p:nvPr/>
        </p:nvSpPr>
        <p:spPr>
          <a:xfrm>
            <a:off x="4846320" y="4037793"/>
            <a:ext cx="3657600" cy="274320"/>
          </a:xfrm>
          <a:prstGeom prst="rect">
            <a:avLst/>
          </a:prstGeom>
          <a:noFill/>
          <a:ln/>
        </p:spPr>
        <p:txBody>
          <a:bodyPr wrap="square" lIns="0" tIns="0" rIns="0" bIns="0" rtlCol="0" anchor="t"/>
          <a:lstStyle/>
          <a:p>
            <a:pPr indent="0" marL="0">
              <a:buNone/>
            </a:pPr>
            <a:r>
              <a:rPr lang="ko-KR" altLang="en-US" sz="1400" b="1" dirty="0">
                <a:solidFill>
                  <a:schemeClr val="accent2"/>
                </a:solidFill>
              </a:rPr>
              <a:t>같은 전치 루프 단독</a:t>
            </a:r>
            <a:endParaRPr lang="ko-KR" sz="1400" dirty="0"/>
          </a:p>
        </p:txBody>
      </p:sp>
      <p:sp>
        <p:nvSpPr>
          <p:cNvPr id="6" name="전치 루프 일반 메모리"/>
          <p:cNvSpPr/>
          <p:nvPr/>
        </p:nvSpPr>
        <p:spPr>
          <a:xfrm>
            <a:off x="4846320" y="4330401"/>
            <a:ext cx="3261208" cy="731520"/>
          </a:xfrm>
          <a:prstGeom prst="roundRect">
            <a:avLst>
              <a:gd name="adj" fmla="val 10000"/>
            </a:avLst>
          </a:prstGeom>
          <a:solidFill>
            <a:schemeClr val="bg2"/>
          </a:solidFill>
          <a:ln/>
        </p:spPr>
      </p:sp>
      <p:sp>
        <p:nvSpPr>
          <p:cNvPr id="7" name="전치 루프 값 일반 메모리"/>
          <p:cNvSpPr txBox="1"/>
          <p:nvPr/>
        </p:nvSpPr>
        <p:spPr>
          <a:xfrm>
            <a:off x="5074920" y="4330401"/>
            <a:ext cx="2895448" cy="731520"/>
          </a:xfrm>
          <a:prstGeom prst="rect">
            <a:avLst/>
          </a:prstGeom>
          <a:noFill/>
          <a:ln/>
        </p:spPr>
        <p:txBody>
          <a:bodyPr wrap="square" lIns="0" tIns="0" rIns="0" bIns="0" rtlCol="0" anchor="ctr"/>
          <a:lstStyle/>
          <a:p>
            <a:pPr indent="0" marL="0">
              <a:buNone/>
            </a:pPr>
            <a:r>
              <a:rPr lang="ko-KR" altLang="en-US" sz="1400" b="1" dirty="0">
                <a:solidFill>
                  <a:schemeClr val="accent2"/>
                </a:solidFill>
              </a:rPr>
              <a:t>일반 메모리  </a:t>
            </a:r>
            <a:r>
              <a:rPr lang="ko-KR" altLang="en-US" sz="2600" b="1" dirty="0">
                <a:solidFill>
                  <a:schemeClr val="tx1"/>
                </a:solidFill>
              </a:rPr>
              <a:t>0.95 ms</a:t>
            </a:r>
            <a:endParaRPr lang="ko-KR" sz="1600" dirty="0"/>
          </a:p>
        </p:txBody>
      </p:sp>
      <p:sp>
        <p:nvSpPr>
          <p:cNvPr id="8" name="전치 루프 GPU 메모리"/>
          <p:cNvSpPr/>
          <p:nvPr/>
        </p:nvSpPr>
        <p:spPr>
          <a:xfrm>
            <a:off x="8381848" y="4330401"/>
            <a:ext cx="3261208" cy="731520"/>
          </a:xfrm>
          <a:prstGeom prst="roundRect">
            <a:avLst>
              <a:gd name="adj" fmla="val 10000"/>
            </a:avLst>
          </a:prstGeom>
          <a:solidFill>
            <a:schemeClr val="bg2"/>
          </a:solidFill>
          <a:ln/>
        </p:spPr>
      </p:sp>
      <p:sp>
        <p:nvSpPr>
          <p:cNvPr id="9" name="전치 루프 값 GPU 메모리"/>
          <p:cNvSpPr txBox="1"/>
          <p:nvPr/>
        </p:nvSpPr>
        <p:spPr>
          <a:xfrm>
            <a:off x="8610448" y="4330401"/>
            <a:ext cx="2895448" cy="731520"/>
          </a:xfrm>
          <a:prstGeom prst="rect">
            <a:avLst/>
          </a:prstGeom>
          <a:noFill/>
          <a:ln/>
        </p:spPr>
        <p:txBody>
          <a:bodyPr wrap="square" lIns="0" tIns="0" rIns="0" bIns="0" rtlCol="0" anchor="ctr"/>
          <a:lstStyle/>
          <a:p>
            <a:pPr indent="0" marL="0">
              <a:buNone/>
            </a:pPr>
            <a:r>
              <a:rPr lang="ko-KR" altLang="en-US" sz="1400" b="1" dirty="0">
                <a:solidFill>
                  <a:schemeClr val="accent2"/>
                </a:solidFill>
              </a:rPr>
              <a:t>GPU 메모리  </a:t>
            </a:r>
            <a:r>
              <a:rPr lang="ko-KR" altLang="en-US" sz="2600" b="1" dirty="0">
                <a:solidFill>
                  <a:schemeClr val="accent1"/>
                </a:solidFill>
              </a:rPr>
              <a:t>12.7 ms</a:t>
            </a:r>
            <a:endParaRPr lang="ko-KR" sz="1600" dirty="0"/>
          </a:p>
        </p:txBody>
      </p:sp>
      <p:sp>
        <p:nvSpPr>
          <p:cNvPr id="10" name="한 줄 메시지"/>
          <p:cNvSpPr txBox="1"/>
          <p:nvPr/>
        </p:nvSpPr>
        <p:spPr>
          <a:xfrm>
            <a:off x="4846320" y="5135073"/>
            <a:ext cx="6796735" cy="384048"/>
          </a:xfrm>
          <a:prstGeom prst="rect">
            <a:avLst/>
          </a:prstGeom>
          <a:noFill/>
          <a:ln/>
        </p:spPr>
        <p:txBody>
          <a:bodyPr wrap="square" lIns="0" tIns="0" rIns="0" bIns="0" rtlCol="0" anchor="ctr"/>
          <a:lstStyle/>
          <a:p>
            <a:pPr indent="0" marL="0">
              <a:buNone/>
            </a:pPr>
            <a:r>
              <a:rPr lang="ko-KR" altLang="en-US" sz="1800" dirty="0">
                <a:solidFill>
                  <a:schemeClr val="tx1"/>
                </a:solidFill>
              </a:rPr>
              <a:t>원인은 변환 연산이 아니라 </a:t>
            </a:r>
            <a:r>
              <a:rPr lang="ko-KR" altLang="en-US" sz="1800" b="1" dirty="0">
                <a:solidFill>
                  <a:schemeClr val="accent1"/>
                </a:solidFill>
              </a:rPr>
              <a:t>CPU가 GPU 메모리를 읽는 것</a:t>
            </a:r>
            <a:endParaRPr lang="ko-KR" sz="1800" dirty="0"/>
          </a:p>
        </p:txBody>
      </p:sp>
      <p:sp>
        <p:nvSpPr>
          <p:cNvPr id="11" name="보조 한 줄"/>
          <p:cNvSpPr txBox="1"/>
          <p:nvPr/>
        </p:nvSpPr>
        <p:spPr>
          <a:xfrm>
            <a:off x="4846320" y="5537409"/>
            <a:ext cx="6796735" cy="457200"/>
          </a:xfrm>
          <a:prstGeom prst="rect">
            <a:avLst/>
          </a:prstGeom>
          <a:noFill/>
          <a:ln/>
        </p:spPr>
        <p:txBody>
          <a:bodyPr wrap="square" lIns="0" tIns="0" rIns="0" bIns="0" rtlCol="0" anchor="t"/>
          <a:lstStyle/>
          <a:p>
            <a:pPr indent="0" marL="0">
              <a:buNone/>
            </a:pPr>
            <a:r>
              <a:rPr lang="ko-KR" altLang="en-US" sz="1300" dirty="0">
                <a:solidFill>
                  <a:schemeClr val="tx1"/>
                </a:solidFill>
              </a:rPr>
              <a:t>V3D 메모리는 CPU에 캐시되지 않는다(Normal Non-cacheable, 실측) — 같은 64 B를 다시 읽어도 121 ns(캐시 메모리 2.08 ns)</a:t>
            </a:r>
            <a:endParaRPr lang="ko-KR" sz="1300" dirty="0"/>
          </a:p>
        </p:txBody>
      </p:sp>
      <p:sp>
        <p:nvSpPr>
          <p:cNvPr id="12" name="각주"/>
          <p:cNvSpPr txBox="1"/>
          <p:nvPr/>
        </p:nvSpPr>
        <p:spPr>
          <a:xfrm>
            <a:off x="548640" y="6035040"/>
            <a:ext cx="11094415" cy="274320"/>
          </a:xfrm>
          <a:prstGeom prst="rect">
            <a:avLst/>
          </a:prstGeom>
          <a:noFill/>
          <a:ln/>
        </p:spPr>
        <p:txBody>
          <a:bodyPr wrap="square" lIns="0" tIns="0" rIns="0" bIns="0" rtlCol="0" anchor="t"/>
          <a:lstStyle/>
          <a:p>
            <a:pPr indent="0" marL="0">
              <a:buNone/>
            </a:pPr>
            <a:r>
              <a:rPr lang="ko-KR" altLang="en-US" sz="1000" dirty="0">
                <a:solidFill>
                  <a:schemeClr val="accent2"/>
                </a:solidFill>
              </a:rPr>
              <a:t>측정 조건: GPU 960 MHz · 디코더 자동 스레드 · 배치 1/슬롯 2</a:t>
            </a:r>
            <a:endParaRPr lang="ko-KR" sz="1000" dirty="0"/>
          </a:p>
        </p:txBody>
      </p:sp>
      <p:sp>
        <p:nvSpPr>
          <p:cNvPr id="13" name="출처 각주"/>
          <p:cNvSpPr txBox="1"/>
          <p:nvPr/>
        </p:nvSpPr>
        <p:spPr>
          <a:xfrm>
            <a:off x="4846320" y="6035040"/>
            <a:ext cx="6796735" cy="274320"/>
          </a:xfrm>
          <a:prstGeom prst="rect">
            <a:avLst/>
          </a:prstGeom>
          <a:noFill/>
          <a:ln/>
        </p:spPr>
        <p:txBody>
          <a:bodyPr wrap="square" lIns="0" tIns="0" rIns="0" bIns="0" rtlCol="0" anchor="t"/>
          <a:lstStyle/>
          <a:p>
            <a:pPr indent="0" marL="0">
              <a:buNone/>
            </a:pPr>
            <a:r>
              <a:rPr lang="ko-KR" altLang="en-US" sz="1000" dirty="0">
                <a:solidFill>
                  <a:schemeClr val="accent2"/>
                </a:solidFill>
              </a:rPr>
              <a:t>출처: 메모리 비대칭 측정(2026-10-27, V3D 1150 MHz, 1.2 MB, 3회 중앙값)</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③ 결과 해석(박스 복원 + NMS)도 GPU로</a:t>
            </a:r>
            <a:endParaRPr lang="ko-KR" sz="2800" dirty="0"/>
          </a:p>
        </p:txBody>
      </p:sp>
      <p:pic>
        <p:nvPicPr>
          <p:cNvPr id="3" name="블록 다이어그램" descr="이전 경로는 NPU 원시 출력을 CPU가 복사해 박스 복원과 NMS를 하고, 바뀐 경로는 원시 출력을 dma-buf로 GPU 셰이더에 넘겨 처리한 뒤 CPU는 최종 검출 몇 개만 받는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응용 CPU 3.25 대 0.94" descr=""/>
          <p:cNvGraphicFramePr/>
          <p:nvPr/>
        </p:nvGraphicFramePr>
        <p:xfrm>
          <a:off x="548640" y="4037793"/>
          <a:ext cx="3931920" cy="1951527"/>
        </p:xfrm>
        <a:graphic xmlns:a="http://schemas.openxmlformats.org/drawingml/2006/main">
          <a:graphicData uri="http://schemas.openxmlformats.org/drawingml/2006/chart">
            <c:chart xmlns:c="http://schemas.openxmlformats.org/drawingml/2006/chart" r:id="rId2"/>
          </a:graphicData>
        </a:graphic>
      </p:graphicFrame>
      <p:sp>
        <p:nvSpPr>
          <p:cNvPr id="5" name="지연 카드"/>
          <p:cNvSpPr/>
          <p:nvPr/>
        </p:nvSpPr>
        <p:spPr>
          <a:xfrm>
            <a:off x="4846320" y="4083513"/>
            <a:ext cx="3261208" cy="1860087"/>
          </a:xfrm>
          <a:prstGeom prst="roundRect">
            <a:avLst>
              <a:gd name="adj" fmla="val 3933"/>
            </a:avLst>
          </a:prstGeom>
          <a:solidFill>
            <a:schemeClr val="bg2"/>
          </a:solidFill>
          <a:ln/>
        </p:spPr>
      </p:sp>
      <p:sp>
        <p:nvSpPr>
          <p:cNvPr id="6" name="지연 값"/>
          <p:cNvSpPr txBox="1"/>
          <p:nvPr/>
        </p:nvSpPr>
        <p:spPr>
          <a:xfrm>
            <a:off x="5074920" y="4174953"/>
            <a:ext cx="2849728" cy="1677207"/>
          </a:xfrm>
          <a:prstGeom prst="rect">
            <a:avLst/>
          </a:prstGeom>
          <a:noFill/>
          <a:ln/>
        </p:spPr>
        <p:txBody>
          <a:bodyPr wrap="square" lIns="0" tIns="0" rIns="0" bIns="0" rtlCol="0" anchor="ctr"/>
          <a:lstStyle/>
          <a:p>
            <a:pPr indent="0" marL="0">
              <a:spcAft>
                <a:spcPts val="800"/>
              </a:spcAft>
              <a:buNone/>
            </a:pPr>
            <a:r>
              <a:rPr lang="ko-KR" altLang="en-US" sz="1400" b="1" dirty="0">
                <a:solidFill>
                  <a:schemeClr val="accent2"/>
                </a:solidFill>
              </a:rPr>
              <a:t>지연은 그대로</a:t>
            </a:r>
            <a:endParaRPr lang="ko-KR" sz="1600" dirty="0"/>
          </a:p>
          <a:p>
            <a:pPr indent="0" marL="0">
              <a:spcAft>
                <a:spcPts val="800"/>
              </a:spcAft>
              <a:buNone/>
            </a:pPr>
            <a:r>
              <a:rPr lang="ko-KR" altLang="en-US" sz="2400" b="1" dirty="0">
                <a:solidFill>
                  <a:schemeClr val="tx1"/>
                </a:solidFill>
              </a:rPr>
              <a:t>79.1 대 79.2 ms</a:t>
            </a:r>
            <a:endParaRPr lang="ko-KR" sz="1600" dirty="0"/>
          </a:p>
        </p:txBody>
      </p:sp>
      <p:sp>
        <p:nvSpPr>
          <p:cNvPr id="7" name="정확도 카드"/>
          <p:cNvSpPr/>
          <p:nvPr/>
        </p:nvSpPr>
        <p:spPr>
          <a:xfrm>
            <a:off x="8381848" y="4083513"/>
            <a:ext cx="3261208" cy="1860087"/>
          </a:xfrm>
          <a:prstGeom prst="roundRect">
            <a:avLst>
              <a:gd name="adj" fmla="val 3933"/>
            </a:avLst>
          </a:prstGeom>
          <a:solidFill>
            <a:schemeClr val="bg2"/>
          </a:solidFill>
          <a:ln/>
        </p:spPr>
      </p:sp>
      <p:sp>
        <p:nvSpPr>
          <p:cNvPr id="8" name="정확도 값"/>
          <p:cNvSpPr txBox="1"/>
          <p:nvPr/>
        </p:nvSpPr>
        <p:spPr>
          <a:xfrm>
            <a:off x="8610448" y="4174953"/>
            <a:ext cx="2849728" cy="1677207"/>
          </a:xfrm>
          <a:prstGeom prst="rect">
            <a:avLst/>
          </a:prstGeom>
          <a:noFill/>
          <a:ln/>
        </p:spPr>
        <p:txBody>
          <a:bodyPr wrap="square" lIns="0" tIns="0" rIns="0" bIns="0" rtlCol="0" anchor="ctr"/>
          <a:lstStyle/>
          <a:p>
            <a:pPr indent="0" marL="0">
              <a:spcAft>
                <a:spcPts val="600"/>
              </a:spcAft>
              <a:buNone/>
            </a:pPr>
            <a:r>
              <a:rPr lang="ko-KR" altLang="en-US" sz="1400" b="1" dirty="0">
                <a:solidFill>
                  <a:schemeClr val="accent2"/>
                </a:solidFill>
              </a:rPr>
              <a:t>정확도</a:t>
            </a:r>
            <a:endParaRPr lang="ko-KR" sz="1600" dirty="0"/>
          </a:p>
          <a:p>
            <a:pPr indent="0" marL="0">
              <a:spcAft>
                <a:spcPts val="600"/>
              </a:spcAft>
              <a:buNone/>
            </a:pPr>
            <a:r>
              <a:rPr lang="ko-KR" altLang="en-US" sz="1500" b="1" dirty="0">
                <a:solidFill>
                  <a:schemeClr val="tx1"/>
                </a:solidFill>
              </a:rPr>
              <a:t>CPU 기준 구현과 같은 결과</a:t>
            </a:r>
            <a:endParaRPr lang="ko-KR" sz="1600" dirty="0"/>
          </a:p>
          <a:p>
            <a:pPr indent="0" marL="0">
              <a:spcAft>
                <a:spcPts val="600"/>
              </a:spcAft>
              <a:buNone/>
            </a:pPr>
            <a:r>
              <a:rPr lang="ko-KR" altLang="en-US" sz="1500" dirty="0">
                <a:solidFill>
                  <a:schemeClr val="tx1"/>
                </a:solidFill>
              </a:rPr>
              <a:t>NPU 런타임 NMS와 IoU 0.9 매칭 0.999</a:t>
            </a:r>
            <a:endParaRPr lang="ko-KR" sz="1600" dirty="0"/>
          </a:p>
        </p:txBody>
      </p:sp>
      <p:sp>
        <p:nvSpPr>
          <p:cNvPr id="9" name="각주"/>
          <p:cNvSpPr txBox="1"/>
          <p:nvPr/>
        </p:nvSpPr>
        <p:spPr>
          <a:xfrm>
            <a:off x="548640" y="6035040"/>
            <a:ext cx="11094415" cy="274320"/>
          </a:xfrm>
          <a:prstGeom prst="rect">
            <a:avLst/>
          </a:prstGeom>
          <a:noFill/>
          <a:ln/>
        </p:spPr>
        <p:txBody>
          <a:bodyPr wrap="square" lIns="0" tIns="0" rIns="0" bIns="0" rtlCol="0" anchor="t"/>
          <a:lstStyle/>
          <a:p>
            <a:pPr indent="0" marL="0">
              <a:buNone/>
            </a:pPr>
            <a:r>
              <a:rPr lang="ko-KR" altLang="en-US" sz="1000" dirty="0">
                <a:solidFill>
                  <a:schemeClr val="accent2"/>
                </a:solidFill>
              </a:rPr>
              <a:t>측정 조건: GPU 1150 MHz · 디코더 1스레드 · 배치 1/슬롯 1 (7번 슬라이드와 조건이 다르다)</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④ 최저 지연 운용 — 한 번에 한 장, 줄 세우지 않는다</a:t>
            </a:r>
            <a:endParaRPr lang="ko-KR" sz="2800" dirty="0"/>
          </a:p>
        </p:txBody>
      </p:sp>
      <p:pic>
        <p:nvPicPr>
          <p:cNvPr id="3" name="블록 다이어그램" descr="페이싱이 없으면 한꺼번에 읽힌 프레임들이 슬롯 앞에 줄을 서서 기다리고, 최저 지연 운용은 입력을 소스 시각에 맞춰 도착시키고 대기열 1칸만 두어 처리 못 한 프레임은 버린다.">    </p:cNvPr>
          <p:cNvPicPr>
            <a:picLocks noChangeAspect="1"/>
          </p:cNvPicPr>
          <p:nvPr/>
        </p:nvPicPr>
        <p:blipFill>
          <a:blip r:embed="rId1"/>
          <a:stretch>
            <a:fillRect/>
          </a:stretch>
        </p:blipFill>
        <p:spPr>
          <a:xfrm>
            <a:off x="548640" y="1097280"/>
            <a:ext cx="11094415" cy="3077673"/>
          </a:xfrm>
          <a:prstGeom prst="rect">
            <a:avLst/>
          </a:prstGeom>
        </p:spPr>
      </p:pic>
      <p:sp>
        <p:nvSpPr>
          <p:cNvPr id="4" name="결과 카드"/>
          <p:cNvSpPr/>
          <p:nvPr/>
        </p:nvSpPr>
        <p:spPr>
          <a:xfrm>
            <a:off x="548640" y="4037793"/>
            <a:ext cx="6035040" cy="1997247"/>
          </a:xfrm>
          <a:prstGeom prst="roundRect">
            <a:avLst>
              <a:gd name="adj" fmla="val 3663"/>
            </a:avLst>
          </a:prstGeom>
          <a:solidFill>
            <a:schemeClr val="bg2"/>
          </a:solidFill>
          <a:ln/>
        </p:spPr>
      </p:sp>
      <p:sp>
        <p:nvSpPr>
          <p:cNvPr id="5" name="결과 수치"/>
          <p:cNvSpPr txBox="1"/>
          <p:nvPr/>
        </p:nvSpPr>
        <p:spPr>
          <a:xfrm>
            <a:off x="822960" y="4083513"/>
            <a:ext cx="5577840" cy="1905807"/>
          </a:xfrm>
          <a:prstGeom prst="rect">
            <a:avLst/>
          </a:prstGeom>
          <a:noFill/>
          <a:ln/>
        </p:spPr>
        <p:txBody>
          <a:bodyPr wrap="square" lIns="0" tIns="0" rIns="0" bIns="0" rtlCol="0" anchor="ctr"/>
          <a:lstStyle/>
          <a:p>
            <a:pPr indent="0" marL="0">
              <a:spcAft>
                <a:spcPts val="200"/>
              </a:spcAft>
              <a:buNone/>
            </a:pPr>
            <a:r>
              <a:rPr lang="ko-KR" altLang="en-US" sz="1400" b="1" dirty="0">
                <a:solidFill>
                  <a:schemeClr val="accent2"/>
                </a:solidFill>
              </a:rPr>
              <a:t>결과 · 도착 기준 평균</a:t>
            </a:r>
            <a:endParaRPr lang="ko-KR" sz="1600" dirty="0"/>
          </a:p>
          <a:p>
            <a:pPr indent="0" marL="0">
              <a:spcAft>
                <a:spcPts val="200"/>
              </a:spcAft>
              <a:buNone/>
            </a:pPr>
            <a:r>
              <a:rPr lang="ko-KR" altLang="en-US" sz="4000" b="1" dirty="0">
                <a:solidFill>
                  <a:schemeClr val="accent1"/>
                </a:solidFill>
              </a:rPr>
              <a:t>58.4 ms</a:t>
            </a:r>
            <a:r>
              <a:rPr lang="ko-KR" altLang="en-US" sz="2200" b="1" dirty="0">
                <a:solidFill>
                  <a:schemeClr val="accent1"/>
                </a:solidFill>
              </a:rPr>
              <a:t>   입력 18.6% 버림</a:t>
            </a:r>
            <a:endParaRPr lang="ko-KR" sz="1600" dirty="0"/>
          </a:p>
          <a:p>
            <a:pPr indent="0" marL="0">
              <a:spcAft>
                <a:spcPts val="200"/>
              </a:spcAft>
              <a:buNone/>
            </a:pPr>
            <a:r>
              <a:rPr lang="ko-KR" altLang="en-US" sz="1500" dirty="0">
                <a:solidFill>
                  <a:schemeClr val="tx1"/>
                </a:solidFill>
              </a:rPr>
              <a:t>그 안의 입력 대기열 대기 약 14.5 ms</a:t>
            </a:r>
            <a:endParaRPr lang="ko-KR" sz="1600" dirty="0"/>
          </a:p>
        </p:txBody>
      </p:sp>
      <p:pic>
        <p:nvPicPr>
          <p:cNvPr id="6" name="메시지 아이콘" descr="대기열 크기의 영향">    </p:cNvPr>
          <p:cNvPicPr>
            <a:picLocks noChangeAspect="1"/>
          </p:cNvPicPr>
          <p:nvPr/>
        </p:nvPicPr>
        <p:blipFill>
          <a:blip r:embed="rId2"/>
          <a:stretch>
            <a:fillRect/>
          </a:stretch>
        </p:blipFill>
        <p:spPr>
          <a:xfrm>
            <a:off x="6949440" y="4147521"/>
            <a:ext cx="320040" cy="320040"/>
          </a:xfrm>
          <a:prstGeom prst="rect">
            <a:avLst/>
          </a:prstGeom>
        </p:spPr>
      </p:pic>
      <p:sp>
        <p:nvSpPr>
          <p:cNvPr id="7" name="한 줄 메시지"/>
          <p:cNvSpPr txBox="1"/>
          <p:nvPr/>
        </p:nvSpPr>
        <p:spPr>
          <a:xfrm>
            <a:off x="7406640" y="4083513"/>
            <a:ext cx="4236415" cy="1905807"/>
          </a:xfrm>
          <a:prstGeom prst="rect">
            <a:avLst/>
          </a:prstGeom>
          <a:noFill/>
          <a:ln/>
        </p:spPr>
        <p:txBody>
          <a:bodyPr wrap="square" lIns="0" tIns="0" rIns="0" bIns="0" rtlCol="0" anchor="t"/>
          <a:lstStyle/>
          <a:p>
            <a:pPr indent="0" marL="0">
              <a:buNone/>
            </a:pPr>
            <a:r>
              <a:rPr lang="ko-KR" altLang="en-US" sz="1600" dirty="0">
                <a:solidFill>
                  <a:schemeClr val="tx1"/>
                </a:solidFill>
              </a:rPr>
              <a:t>대기열 크기 N이 1 늘 때마다 b1/s1 평균 지연 +33.1 ms (1/30 s), 버림률은 거의 같음</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⑤ CPU는 거의 지휘만 한다</a:t>
            </a:r>
            <a:endParaRPr lang="ko-KR" sz="2800" dirty="0"/>
          </a:p>
        </p:txBody>
      </p:sp>
      <p:pic>
        <p:nvPicPr>
          <p:cNvPr id="3" name="블록 다이어그램" descr="데이터는 하드웨어 디코더, GPU, NPU 사이를 dma-buf로 흐르고 CPU는 작업 제출과 완료 이벤트 대기로 지휘만 하며, 대기 방식은 일정 간격으로 확인하는 폴링 대신 완료 이벤트에 깨어나는 방식을 쓴다.">    </p:cNvPr>
          <p:cNvPicPr>
            <a:picLocks noChangeAspect="1"/>
          </p:cNvPicPr>
          <p:nvPr/>
        </p:nvPicPr>
        <p:blipFill>
          <a:blip r:embed="rId1"/>
          <a:stretch>
            <a:fillRect/>
          </a:stretch>
        </p:blipFill>
        <p:spPr>
          <a:xfrm>
            <a:off x="548640" y="1097280"/>
            <a:ext cx="11094415" cy="3077673"/>
          </a:xfrm>
          <a:prstGeom prst="rect">
            <a:avLst/>
          </a:prstGeom>
        </p:spPr>
      </p:pic>
      <p:sp>
        <p:nvSpPr>
          <p:cNvPr id="4" name="⑤ 결과 카드"/>
          <p:cNvSpPr/>
          <p:nvPr/>
        </p:nvSpPr>
        <p:spPr>
          <a:xfrm>
            <a:off x="548640" y="4037793"/>
            <a:ext cx="6035040" cy="1997247"/>
          </a:xfrm>
          <a:prstGeom prst="roundRect">
            <a:avLst>
              <a:gd name="adj" fmla="val 3663"/>
            </a:avLst>
          </a:prstGeom>
          <a:solidFill>
            <a:schemeClr val="bg2"/>
          </a:solidFill>
          <a:ln/>
        </p:spPr>
      </p:sp>
      <p:sp>
        <p:nvSpPr>
          <p:cNvPr id="5" name="⑤ 결과 수치"/>
          <p:cNvSpPr txBox="1"/>
          <p:nvPr/>
        </p:nvSpPr>
        <p:spPr>
          <a:xfrm>
            <a:off x="822960" y="4083513"/>
            <a:ext cx="5577840" cy="1905807"/>
          </a:xfrm>
          <a:prstGeom prst="rect">
            <a:avLst/>
          </a:prstGeom>
          <a:noFill/>
          <a:ln/>
        </p:spPr>
        <p:txBody>
          <a:bodyPr wrap="square" lIns="0" tIns="0" rIns="0" bIns="0" rtlCol="0" anchor="ctr"/>
          <a:lstStyle/>
          <a:p>
            <a:pPr indent="0" marL="0">
              <a:spcAft>
                <a:spcPts val="200"/>
              </a:spcAft>
              <a:buNone/>
            </a:pPr>
            <a:r>
              <a:rPr lang="ko-KR" altLang="en-US" sz="1400" b="1" dirty="0">
                <a:solidFill>
                  <a:schemeClr val="accent2"/>
                </a:solidFill>
              </a:rPr>
              <a:t>①~⑤ 모두 적용 · 최저 지연 운용점 · 응용 CPU</a:t>
            </a:r>
            <a:endParaRPr lang="ko-KR" sz="1600" dirty="0"/>
          </a:p>
          <a:p>
            <a:pPr indent="0" marL="0">
              <a:spcAft>
                <a:spcPts val="200"/>
              </a:spcAft>
              <a:buNone/>
            </a:pPr>
            <a:r>
              <a:rPr lang="ko-KR" altLang="en-US" sz="4400" b="1" dirty="0">
                <a:solidFill>
                  <a:schemeClr val="accent1"/>
                </a:solidFill>
              </a:rPr>
              <a:t>약 1.0</a:t>
            </a:r>
            <a:r>
              <a:rPr lang="ko-KR" altLang="en-US" sz="2000" b="1" dirty="0">
                <a:solidFill>
                  <a:schemeClr val="accent1"/>
                </a:solidFill>
              </a:rPr>
              <a:t> ms/프레임</a:t>
            </a:r>
            <a:r>
              <a:rPr lang="ko-KR" altLang="en-US" sz="1400" dirty="0">
                <a:solidFill>
                  <a:schemeClr val="tx1"/>
                </a:solidFill>
              </a:rPr>
              <a:t>   (처리한 프레임 기준)</a:t>
            </a:r>
            <a:endParaRPr lang="ko-KR" sz="1600" dirty="0"/>
          </a:p>
        </p:txBody>
      </p:sp>
      <p:pic>
        <p:nvPicPr>
          <p:cNvPr id="6" name="메시지 아이콘" descr="감소의 출처">    </p:cNvPr>
          <p:cNvPicPr>
            <a:picLocks noChangeAspect="1"/>
          </p:cNvPicPr>
          <p:nvPr/>
        </p:nvPicPr>
        <p:blipFill>
          <a:blip r:embed="rId2"/>
          <a:stretch>
            <a:fillRect/>
          </a:stretch>
        </p:blipFill>
        <p:spPr>
          <a:xfrm>
            <a:off x="6949440" y="4147521"/>
            <a:ext cx="320040" cy="320040"/>
          </a:xfrm>
          <a:prstGeom prst="rect">
            <a:avLst/>
          </a:prstGeom>
        </p:spPr>
      </p:pic>
      <p:sp>
        <p:nvSpPr>
          <p:cNvPr id="7" name="한 줄 메시지"/>
          <p:cNvSpPr txBox="1"/>
          <p:nvPr/>
        </p:nvSpPr>
        <p:spPr>
          <a:xfrm>
            <a:off x="7406640" y="4083513"/>
            <a:ext cx="4236415" cy="457200"/>
          </a:xfrm>
          <a:prstGeom prst="rect">
            <a:avLst/>
          </a:prstGeom>
          <a:noFill/>
          <a:ln/>
        </p:spPr>
        <p:txBody>
          <a:bodyPr wrap="square" lIns="0" tIns="0" rIns="0" bIns="0" rtlCol="0" anchor="t"/>
          <a:lstStyle/>
          <a:p>
            <a:pPr indent="0" marL="0">
              <a:buNone/>
            </a:pPr>
            <a:r>
              <a:rPr lang="ko-KR" altLang="en-US" sz="1800" b="1" dirty="0">
                <a:solidFill>
                  <a:schemeClr val="tx1"/>
                </a:solidFill>
              </a:rPr>
              <a:t>감소의 대부분은 ②·③의 몫이다</a:t>
            </a:r>
            <a:endParaRPr lang="ko-KR"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결과 요약</a:t>
            </a:r>
            <a:endParaRPr lang="ko-KR" sz="2800" dirty="0"/>
          </a:p>
        </p:txBody>
      </p:sp>
      <p:graphicFrame>
        <p:nvGraphicFramePr>
          <p:cNvPr id="12" name="표 1 결과 요약"/>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37760"/>
                <a:gridCol w="2560320"/>
                <a:gridCol w="3596335"/>
              </a:tblGrid>
              <a:tr h="502920">
                <a:tc>
                  <a:txBody>
                    <a:bodyPr/>
                    <a:lstStyle/>
                    <a:p>
                      <a:pPr algn="l" indent="0" marL="0">
                        <a:buNone/>
                      </a:pPr>
                      <a:r>
                        <a:rPr lang="ko-KR" altLang="en-US" sz="1400" b="1" dirty="0">
                          <a:solidFill>
                            <a:schemeClr val="bg1"/>
                          </a:solidFill>
                        </a:rPr>
                        <a:t>구성</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400" b="1" dirty="0">
                          <a:solidFill>
                            <a:schemeClr val="bg1"/>
                          </a:solidFill>
                        </a:rPr>
                        <a:t>응용 CPU (ms/프레임)</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400" b="1" dirty="0">
                          <a:solidFill>
                            <a:schemeClr val="bg1"/>
                          </a:solidFill>
                        </a:rPr>
                        <a:t>지연</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r>
              <a:tr h="502920">
                <a:tc>
                  <a:txBody>
                    <a:bodyPr/>
                    <a:lstStyle/>
                    <a:p>
                      <a:pPr algn="l" indent="0" marL="0">
                        <a:buNone/>
                      </a:pPr>
                      <a:r>
                        <a:rPr lang="ko-KR" altLang="en-US" sz="1400" dirty="0">
                          <a:solidFill>
                            <a:schemeClr val="tx1"/>
                          </a:solidFill>
                        </a:rPr>
                        <a:t>출발점: 형식 변환·NMS를 CPU에서</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17.6</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502920">
                <a:tc>
                  <a:txBody>
                    <a:bodyPr/>
                    <a:lstStyle/>
                    <a:p>
                      <a:pPr algn="l" indent="0" marL="0">
                        <a:buNone/>
                      </a:pPr>
                      <a:r>
                        <a:rPr lang="ko-KR" altLang="en-US" sz="1400" dirty="0">
                          <a:solidFill>
                            <a:schemeClr val="tx1"/>
                          </a:solidFill>
                        </a:rPr>
                        <a:t>② NPU 형식(NHCW)을 GPU가 직접 생성</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3.3</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502920">
                <a:tc>
                  <a:txBody>
                    <a:bodyPr/>
                    <a:lstStyle/>
                    <a:p>
                      <a:pPr algn="l" indent="0" marL="0">
                        <a:buNone/>
                      </a:pPr>
                      <a:r>
                        <a:rPr lang="ko-KR" altLang="en-US" sz="1400" dirty="0">
                          <a:solidFill>
                            <a:schemeClr val="tx1"/>
                          </a:solidFill>
                        </a:rPr>
                        <a:t>③ 결과 해석(NMS 포함)을 GPU로</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0.94 (직전 3.25)</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79.2 ms (디코드 끝 기준)</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777240">
                <a:tc>
                  <a:txBody>
                    <a:bodyPr/>
                    <a:lstStyle/>
                    <a:p>
                      <a:pPr algn="l" indent="0" marL="0">
                        <a:buNone/>
                      </a:pPr>
                      <a:r>
                        <a:rPr lang="ko-KR" altLang="en-US" sz="1400" dirty="0">
                          <a:solidFill>
                            <a:schemeClr val="tx1"/>
                          </a:solidFill>
                        </a:rPr>
                        <a:t>④⑤ 최저 지연 운용(입력 페이싱 + 대기열 1)</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400" b="1" dirty="0">
                          <a:solidFill>
                            <a:schemeClr val="tx1"/>
                          </a:solidFill>
                        </a:rPr>
                        <a:t>약 1.0</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400" b="1" dirty="0">
                          <a:solidFill>
                            <a:schemeClr val="tx1"/>
                          </a:solidFill>
                        </a:rPr>
                        <a:t>58.4 ms (도착 기준, 입력 18.6% 버림)</a:t>
                      </a:r>
                      <a:endParaRPr lang="ko-KR" sz="1400" dirty="0"/>
                    </a:p>
                    <a:p>
                      <a:pPr algn="r" indent="0" marL="0">
                        <a:buNone/>
                      </a:pPr>
                      <a:r>
                        <a:rPr lang="ko-KR" altLang="en-US" sz="1400" dirty="0">
                          <a:solidFill>
                            <a:schemeClr val="tx1"/>
                          </a:solidFill>
                        </a:rPr>
                        <a:t>화면까지 70.2 ms</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r>
            </a:tbl>
          </a:graphicData>
        </a:graphic>
      </p:graphicFrame>
      <p:sp>
        <p:nvSpPr>
          <p:cNvPr id="4" name="검출 결과"/>
          <p:cNvSpPr txBox="1"/>
          <p:nvPr/>
        </p:nvSpPr>
        <p:spPr>
          <a:xfrm>
            <a:off x="548640" y="4389120"/>
            <a:ext cx="11094415" cy="320040"/>
          </a:xfrm>
          <a:prstGeom prst="rect">
            <a:avLst/>
          </a:prstGeom>
          <a:noFill/>
          <a:ln/>
        </p:spPr>
        <p:txBody>
          <a:bodyPr wrap="square" lIns="0" tIns="0" rIns="0" bIns="0" rtlCol="0" anchor="t"/>
          <a:lstStyle/>
          <a:p>
            <a:pPr indent="0" marL="0">
              <a:buNone/>
            </a:pPr>
            <a:r>
              <a:rPr lang="ko-KR" altLang="en-US" sz="1400" dirty="0">
                <a:solidFill>
                  <a:schemeClr val="tx1"/>
                </a:solidFill>
              </a:rPr>
              <a:t>검출 결과는 기준 경로와 같다 (1,816프레임에서 9,457개)</a:t>
            </a:r>
            <a:endParaRPr lang="ko-KR" sz="1400" dirty="0"/>
          </a:p>
        </p:txBody>
      </p:sp>
      <p:sp>
        <p:nvSpPr>
          <p:cNvPr id="5" name="표 각주"/>
          <p:cNvSpPr txBox="1"/>
          <p:nvPr/>
        </p:nvSpPr>
        <p:spPr>
          <a:xfrm>
            <a:off x="548640" y="4892040"/>
            <a:ext cx="11094415" cy="1097280"/>
          </a:xfrm>
          <a:prstGeom prst="rect">
            <a:avLst/>
          </a:prstGeom>
          <a:noFill/>
          <a:ln/>
        </p:spPr>
        <p:txBody>
          <a:bodyPr wrap="square" lIns="0" tIns="0" rIns="0" bIns="0" rtlCol="0" anchor="t"/>
          <a:lstStyle/>
          <a:p>
            <a:pPr marL="127000" indent="-127000">
              <a:spcAft>
                <a:spcPts val="300"/>
              </a:spcAft>
              <a:buSzPct val="100000"/>
              <a:buChar char="•"/>
            </a:pPr>
            <a:r>
              <a:rPr lang="ko-KR" altLang="en-US" sz="1100" dirty="0">
                <a:solidFill>
                  <a:schemeClr val="accent2"/>
                </a:solidFill>
              </a:rPr>
              <a:t>1~2행: GPU 960 MHz · 디코더 자동 스레드 · 배치 1/슬롯 2 (1,816프레임 3회 중앙값). 3~4행: GPU 1150 MHz · 디코더 1스레드 · 배치 1/슬롯 1 (900프레임 3회 중앙값)</a:t>
            </a:r>
            <a:endParaRPr lang="ko-KR" sz="1600" dirty="0"/>
          </a:p>
          <a:p>
            <a:pPr marL="127000" indent="-127000">
              <a:spcAft>
                <a:spcPts val="300"/>
              </a:spcAft>
              <a:buSzPct val="100000"/>
              <a:buChar char="•"/>
            </a:pPr>
            <a:r>
              <a:rPr lang="ko-KR" altLang="en-US" sz="1100" dirty="0">
                <a:solidFill>
                  <a:schemeClr val="accent2"/>
                </a:solidFill>
              </a:rPr>
              <a:t>4행 CPU는 처리한 프레임 기준, 3·4행 지연은 기점이 달라 서로 빼지 않는다</a:t>
            </a:r>
            <a:endParaRPr lang="ko-KR" sz="1600" dirty="0"/>
          </a:p>
          <a:p>
            <a:pPr marL="127000" indent="-127000">
              <a:spcAft>
                <a:spcPts val="300"/>
              </a:spcAft>
              <a:buSzPct val="100000"/>
              <a:buChar char="•"/>
            </a:pPr>
            <a:r>
              <a:rPr lang="ko-KR" altLang="en-US" sz="1100" dirty="0">
                <a:solidFill>
                  <a:schemeClr val="accent2"/>
                </a:solidFill>
              </a:rPr>
              <a:t>58.4 ms는 표시 없이 입력 18.6% 버림, 70.2 ms는 화면 표시를 켠 별도 실행(버림 19.1%)</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bg1"/>
                </a:solidFill>
              </a:rPr>
              <a:t>결론</a:t>
            </a:r>
            <a:endParaRPr lang="ko-KR" sz="2800" dirty="0"/>
          </a:p>
        </p:txBody>
      </p:sp>
      <p:pic>
        <p:nvPicPr>
          <p:cNvPr id="3" name="핵심 아이콘" descr="핵심">    </p:cNvPr>
          <p:cNvPicPr>
            <a:picLocks noChangeAspect="1"/>
          </p:cNvPicPr>
          <p:nvPr/>
        </p:nvPicPr>
        <p:blipFill>
          <a:blip r:embed="rId1"/>
          <a:stretch>
            <a:fillRect/>
          </a:stretch>
        </p:blipFill>
        <p:spPr>
          <a:xfrm>
            <a:off x="548640" y="1783080"/>
            <a:ext cx="548640" cy="548640"/>
          </a:xfrm>
          <a:prstGeom prst="rect">
            <a:avLst/>
          </a:prstGeom>
        </p:spPr>
      </p:pic>
      <p:sp>
        <p:nvSpPr>
          <p:cNvPr id="4" name="핵심 메시지"/>
          <p:cNvSpPr txBox="1"/>
          <p:nvPr/>
        </p:nvSpPr>
        <p:spPr>
          <a:xfrm>
            <a:off x="1371600" y="1463040"/>
            <a:ext cx="10271455" cy="1188720"/>
          </a:xfrm>
          <a:prstGeom prst="rect">
            <a:avLst/>
          </a:prstGeom>
          <a:noFill/>
          <a:ln/>
        </p:spPr>
        <p:txBody>
          <a:bodyPr wrap="square" lIns="0" tIns="0" rIns="0" bIns="0" rtlCol="0" anchor="ctr"/>
          <a:lstStyle/>
          <a:p>
            <a:pPr indent="0" marL="0">
              <a:buNone/>
            </a:pPr>
            <a:r>
              <a:rPr lang="ko-KR" altLang="en-US" sz="2600" dirty="0">
                <a:solidFill>
                  <a:schemeClr val="bg1"/>
                </a:solidFill>
              </a:rPr>
              <a:t>CPU를 줄이는 열쇠는 연산을 빠르게 하는 것이 아니라 </a:t>
            </a:r>
            <a:r>
              <a:rPr lang="ko-KR" altLang="en-US" sz="2600" b="1" dirty="0">
                <a:solidFill>
                  <a:schemeClr val="accent6"/>
                </a:solidFill>
              </a:rPr>
              <a:t>CPU가 데이터를 읽지 않게 하는 것</a:t>
            </a:r>
            <a:endParaRPr lang="ko-KR" sz="2600" dirty="0"/>
          </a:p>
        </p:txBody>
      </p:sp>
      <p:sp>
        <p:nvSpPr>
          <p:cNvPr id="5" name="근거 한 줄"/>
          <p:cNvSpPr txBox="1"/>
          <p:nvPr/>
        </p:nvSpPr>
        <p:spPr>
          <a:xfrm>
            <a:off x="1371600" y="2697480"/>
            <a:ext cx="10271455" cy="548640"/>
          </a:xfrm>
          <a:prstGeom prst="rect">
            <a:avLst/>
          </a:prstGeom>
          <a:noFill/>
          <a:ln/>
        </p:spPr>
        <p:txBody>
          <a:bodyPr wrap="square" lIns="0" tIns="0" rIns="0" bIns="0" rtlCol="0" anchor="t"/>
          <a:lstStyle/>
          <a:p>
            <a:pPr indent="0" marL="0">
              <a:buNone/>
            </a:pPr>
            <a:r>
              <a:rPr lang="ko-KR" altLang="en-US" sz="1500" dirty="0">
                <a:solidFill>
                  <a:schemeClr val="bg2"/>
                </a:solidFill>
              </a:rPr>
              <a:t>같은 GPU 메모리에서 CPU 쓰기는 싸고(1바이트 0.514 ms), GPU는 캐시 여부와 무관하게 읽는다 — 비싼 것은 CPU 읽기 하나(1바이트 12.82 ms)</a:t>
            </a:r>
            <a:endParaRPr lang="ko-KR" sz="1500" dirty="0"/>
          </a:p>
        </p:txBody>
      </p:sp>
      <p:pic>
        <p:nvPicPr>
          <p:cNvPr id="6" name="요점 아이콘 1" descr="요점">    </p:cNvPr>
          <p:cNvPicPr>
            <a:picLocks noChangeAspect="1"/>
          </p:cNvPicPr>
          <p:nvPr/>
        </p:nvPicPr>
        <p:blipFill>
          <a:blip r:embed="rId2"/>
          <a:stretch>
            <a:fillRect/>
          </a:stretch>
        </p:blipFill>
        <p:spPr>
          <a:xfrm>
            <a:off x="621792" y="3730752"/>
            <a:ext cx="411480" cy="411480"/>
          </a:xfrm>
          <a:prstGeom prst="rect">
            <a:avLst/>
          </a:prstGeom>
        </p:spPr>
      </p:pic>
      <p:sp>
        <p:nvSpPr>
          <p:cNvPr id="7" name="요점 1"/>
          <p:cNvSpPr txBox="1"/>
          <p:nvPr/>
        </p:nvSpPr>
        <p:spPr>
          <a:xfrm>
            <a:off x="1371600" y="3474720"/>
            <a:ext cx="10271455" cy="914400"/>
          </a:xfrm>
          <a:prstGeom prst="rect">
            <a:avLst/>
          </a:prstGeom>
          <a:noFill/>
          <a:ln/>
        </p:spPr>
        <p:txBody>
          <a:bodyPr wrap="square" lIns="0" tIns="0" rIns="0" bIns="0" rtlCol="0" anchor="ctr"/>
          <a:lstStyle/>
          <a:p>
            <a:pPr indent="0" marL="0">
              <a:buNone/>
            </a:pPr>
            <a:r>
              <a:rPr lang="ko-KR" altLang="en-US" sz="1800" dirty="0">
                <a:solidFill>
                  <a:schemeClr val="bg1"/>
                </a:solidFill>
              </a:rPr>
              <a:t>디코더·GPU·NPU가 dma-buf로 직접 주고받고, 형식 생성과 결과 해석을 GPU에 맡기면 CPU에는 지휘만 남는다</a:t>
            </a:r>
            <a:endParaRPr lang="ko-KR" sz="1800" dirty="0"/>
          </a:p>
        </p:txBody>
      </p:sp>
      <p:pic>
        <p:nvPicPr>
          <p:cNvPr id="8" name="요점 아이콘 2" descr="요점">    </p:cNvPr>
          <p:cNvPicPr>
            <a:picLocks noChangeAspect="1"/>
          </p:cNvPicPr>
          <p:nvPr/>
        </p:nvPicPr>
        <p:blipFill>
          <a:blip r:embed="rId3"/>
          <a:stretch>
            <a:fillRect/>
          </a:stretch>
        </p:blipFill>
        <p:spPr>
          <a:xfrm>
            <a:off x="621792" y="4828032"/>
            <a:ext cx="411480" cy="411480"/>
          </a:xfrm>
          <a:prstGeom prst="rect">
            <a:avLst/>
          </a:prstGeom>
        </p:spPr>
      </p:pic>
      <p:sp>
        <p:nvSpPr>
          <p:cNvPr id="9" name="요점 2"/>
          <p:cNvSpPr txBox="1"/>
          <p:nvPr/>
        </p:nvSpPr>
        <p:spPr>
          <a:xfrm>
            <a:off x="1371600" y="4572000"/>
            <a:ext cx="10271455" cy="914400"/>
          </a:xfrm>
          <a:prstGeom prst="rect">
            <a:avLst/>
          </a:prstGeom>
          <a:noFill/>
          <a:ln/>
        </p:spPr>
        <p:txBody>
          <a:bodyPr wrap="square" lIns="0" tIns="0" rIns="0" bIns="0" rtlCol="0" anchor="ctr"/>
          <a:lstStyle/>
          <a:p>
            <a:pPr indent="0" marL="0">
              <a:buNone/>
            </a:pPr>
            <a:r>
              <a:rPr lang="ko-KR" altLang="en-US" sz="1800" dirty="0">
                <a:solidFill>
                  <a:schemeClr val="bg1"/>
                </a:solidFill>
              </a:rPr>
              <a:t>최저 지연 운용("한 번에 한 장, 줄 세우지 않기")에서 응용 CPU 약 1 ms/프레임, 도착 기준 58.4 ms (입력 18.6% 버림)</a:t>
            </a:r>
            <a:endParaRPr lang="ko-KR" sz="1800" dirty="0"/>
          </a:p>
        </p:txBody>
      </p:sp>
      <p:sp>
        <p:nvSpPr>
          <p:cNvPr id="11" name="출처 각주"/>
          <p:cNvSpPr txBox="1"/>
          <p:nvPr/>
        </p:nvSpPr>
        <p:spPr>
          <a:xfrm>
            <a:off x="548640" y="5989320"/>
            <a:ext cx="10180015" cy="274320"/>
          </a:xfrm>
          <a:prstGeom prst="rect">
            <a:avLst/>
          </a:prstGeom>
          <a:noFill/>
          <a:ln/>
        </p:spPr>
        <p:txBody>
          <a:bodyPr wrap="square" lIns="0" tIns="0" rIns="0" bIns="0" rtlCol="0" anchor="t"/>
          <a:lstStyle/>
          <a:p>
            <a:pPr indent="0" marL="0">
              <a:buNone/>
            </a:pPr>
            <a:r>
              <a:rPr lang="ko-KR" altLang="en-US" sz="1000" dirty="0">
                <a:solidFill>
                  <a:schemeClr val="accent4"/>
                </a:solidFill>
              </a:rPr>
              <a:t>출처: 메모리 비대칭 측정(2026-10-27, V3D 1150 MHz, 1.2 MB, 3회 중앙값)</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005840"/>
            <a:ext cx="10698480" cy="1097280"/>
          </a:xfrm>
          <a:prstGeom prst="rect">
            <a:avLst/>
          </a:prstGeom>
          <a:noFill/>
          <a:ln/>
        </p:spPr>
        <p:txBody>
          <a:bodyPr wrap="square" lIns="0" tIns="0" rIns="0" bIns="0" rtlCol="0" anchor="b"/>
          <a:lstStyle/>
          <a:p>
            <a:pPr algn="l" indent="0" marL="0">
              <a:buNone/>
            </a:pPr>
            <a:r>
              <a:rPr lang="ko-KR" altLang="en-US" sz="4800" b="1" dirty="0">
                <a:solidFill>
                  <a:schemeClr val="bg1"/>
                </a:solidFill>
              </a:rPr>
              <a:t>감사합니다</a:t>
            </a:r>
            <a:endParaRPr lang="ko-KR" sz="4800" dirty="0"/>
          </a:p>
        </p:txBody>
      </p:sp>
      <p:sp>
        <p:nvSpPr>
          <p:cNvPr id="3" name="Text 0"/>
          <p:cNvSpPr/>
          <p:nvPr>
            <p:ph idx="101" type="body" hasCustomPrompt="1"/>
          </p:nvPr>
        </p:nvSpPr>
        <p:spPr>
          <a:xfrm>
            <a:off x="731520" y="2240280"/>
            <a:ext cx="10698480" cy="548640"/>
          </a:xfrm>
          <a:prstGeom prst="rect">
            <a:avLst/>
          </a:prstGeom>
          <a:noFill/>
          <a:ln/>
        </p:spPr>
        <p:txBody>
          <a:bodyPr wrap="square" lIns="0" tIns="0" rIns="0" bIns="0" rtlCol="0" anchor="t"/>
          <a:lstStyle/>
          <a:p>
            <a:pPr algn="l" indent="0" marL="0">
              <a:buNone/>
            </a:pPr>
            <a:r>
              <a:rPr lang="ko-KR" altLang="en-US" sz="2600" dirty="0">
                <a:solidFill>
                  <a:schemeClr val="bg2"/>
                </a:solidFill>
              </a:rPr>
              <a:t>질의응답 (Q&amp;A)</a:t>
            </a:r>
            <a:endParaRPr lang="ko-KR" sz="2600" dirty="0"/>
          </a:p>
        </p:txBody>
      </p:sp>
      <p:sp>
        <p:nvSpPr>
          <p:cNvPr id="4" name="Text 0"/>
          <p:cNvSpPr/>
          <p:nvPr>
            <p:ph idx="102" type="body" hasCustomPrompt="1"/>
          </p:nvPr>
        </p:nvSpPr>
        <p:spPr>
          <a:xfrm>
            <a:off x="731520" y="3108960"/>
            <a:ext cx="5943600" cy="457200"/>
          </a:xfrm>
          <a:prstGeom prst="rect">
            <a:avLst/>
          </a:prstGeom>
          <a:noFill/>
          <a:ln/>
        </p:spPr>
        <p:txBody>
          <a:bodyPr wrap="square" lIns="0" tIns="0" rIns="0" bIns="0" rtlCol="0" anchor="ctr"/>
          <a:lstStyle/>
          <a:p>
            <a:pPr algn="l" indent="0" marL="0">
              <a:buNone/>
            </a:pPr>
            <a:r>
              <a:rPr lang="ko-KR" altLang="en-US" sz="1800" dirty="0">
                <a:solidFill>
                  <a:schemeClr val="bg1"/>
                </a:solidFill>
              </a:rPr>
              <a:t>발표자 (작성 필요)</a:t>
            </a:r>
            <a:endParaRPr lang="ko-KR" sz="1800" dirty="0"/>
          </a:p>
        </p:txBody>
      </p:sp>
      <p:sp>
        <p:nvSpPr>
          <p:cNvPr id="5" name="흐름 아이콘 원 1"/>
          <p:cNvSpPr/>
          <p:nvPr/>
        </p:nvSpPr>
        <p:spPr>
          <a:xfrm>
            <a:off x="7818120" y="2971800"/>
            <a:ext cx="731520" cy="731520"/>
          </a:xfrm>
          <a:prstGeom prst="ellipse">
            <a:avLst/>
          </a:prstGeom>
          <a:solidFill>
            <a:schemeClr val="accent5"/>
          </a:solidFill>
          <a:ln/>
        </p:spPr>
      </p:sp>
      <p:pic>
        <p:nvPicPr>
          <p:cNvPr id="6" name="흐름 아이콘 1" descr="디코드">    </p:cNvPr>
          <p:cNvPicPr>
            <a:picLocks noChangeAspect="1"/>
          </p:cNvPicPr>
          <p:nvPr/>
        </p:nvPicPr>
        <p:blipFill>
          <a:blip r:embed="rId1"/>
          <a:stretch>
            <a:fillRect/>
          </a:stretch>
        </p:blipFill>
        <p:spPr>
          <a:xfrm>
            <a:off x="8001000" y="3154680"/>
            <a:ext cx="365760" cy="365760"/>
          </a:xfrm>
          <a:prstGeom prst="rect">
            <a:avLst/>
          </a:prstGeom>
        </p:spPr>
      </p:pic>
      <p:sp>
        <p:nvSpPr>
          <p:cNvPr id="7" name="흐름 아이콘 원 2"/>
          <p:cNvSpPr/>
          <p:nvPr/>
        </p:nvSpPr>
        <p:spPr>
          <a:xfrm>
            <a:off x="8778240" y="2971800"/>
            <a:ext cx="731520" cy="731520"/>
          </a:xfrm>
          <a:prstGeom prst="ellipse">
            <a:avLst/>
          </a:prstGeom>
          <a:solidFill>
            <a:schemeClr val="accent5"/>
          </a:solidFill>
          <a:ln/>
        </p:spPr>
      </p:sp>
      <p:pic>
        <p:nvPicPr>
          <p:cNvPr id="8" name="흐름 아이콘 2" descr="GPU">    </p:cNvPr>
          <p:cNvPicPr>
            <a:picLocks noChangeAspect="1"/>
          </p:cNvPicPr>
          <p:nvPr/>
        </p:nvPicPr>
        <p:blipFill>
          <a:blip r:embed="rId2"/>
          <a:stretch>
            <a:fillRect/>
          </a:stretch>
        </p:blipFill>
        <p:spPr>
          <a:xfrm>
            <a:off x="8961120" y="3154680"/>
            <a:ext cx="365760" cy="365760"/>
          </a:xfrm>
          <a:prstGeom prst="rect">
            <a:avLst/>
          </a:prstGeom>
        </p:spPr>
      </p:pic>
      <p:sp>
        <p:nvSpPr>
          <p:cNvPr id="9" name="흐름 아이콘 원 3"/>
          <p:cNvSpPr/>
          <p:nvPr/>
        </p:nvSpPr>
        <p:spPr>
          <a:xfrm>
            <a:off x="9738360" y="2971800"/>
            <a:ext cx="731520" cy="731520"/>
          </a:xfrm>
          <a:prstGeom prst="ellipse">
            <a:avLst/>
          </a:prstGeom>
          <a:solidFill>
            <a:schemeClr val="accent1"/>
          </a:solidFill>
          <a:ln/>
        </p:spPr>
      </p:sp>
      <p:pic>
        <p:nvPicPr>
          <p:cNvPr id="10" name="흐름 아이콘 3" descr="NPU">    </p:cNvPr>
          <p:cNvPicPr>
            <a:picLocks noChangeAspect="1"/>
          </p:cNvPicPr>
          <p:nvPr/>
        </p:nvPicPr>
        <p:blipFill>
          <a:blip r:embed="rId3"/>
          <a:stretch>
            <a:fillRect/>
          </a:stretch>
        </p:blipFill>
        <p:spPr>
          <a:xfrm>
            <a:off x="9921240" y="3154680"/>
            <a:ext cx="365760" cy="365760"/>
          </a:xfrm>
          <a:prstGeom prst="rect">
            <a:avLst/>
          </a:prstGeom>
        </p:spPr>
      </p:pic>
      <p:sp>
        <p:nvSpPr>
          <p:cNvPr id="11" name="흐름 아이콘 원 4"/>
          <p:cNvSpPr/>
          <p:nvPr/>
        </p:nvSpPr>
        <p:spPr>
          <a:xfrm>
            <a:off x="10698480" y="2971800"/>
            <a:ext cx="731520" cy="731520"/>
          </a:xfrm>
          <a:prstGeom prst="ellipse">
            <a:avLst/>
          </a:prstGeom>
          <a:solidFill>
            <a:schemeClr val="accent5"/>
          </a:solidFill>
          <a:ln/>
        </p:spPr>
      </p:sp>
      <p:pic>
        <p:nvPicPr>
          <p:cNvPr id="12" name="흐름 아이콘 4" descr="표시">    </p:cNvPr>
          <p:cNvPicPr>
            <a:picLocks noChangeAspect="1"/>
          </p:cNvPicPr>
          <p:nvPr/>
        </p:nvPicPr>
        <p:blipFill>
          <a:blip r:embed="rId4"/>
          <a:stretch>
            <a:fillRect/>
          </a:stretch>
        </p:blipFill>
        <p:spPr>
          <a:xfrm>
            <a:off x="10881360" y="3154680"/>
            <a:ext cx="365760" cy="365760"/>
          </a:xfrm>
          <a:prstGeom prst="rect">
            <a:avLst/>
          </a:prstGeom>
        </p:spPr>
      </p:pic>
      <p:sp>
        <p:nvSpPr>
          <p:cNvPr id="13" name="참고문헌 머리"/>
          <p:cNvSpPr txBox="1"/>
          <p:nvPr/>
        </p:nvSpPr>
        <p:spPr>
          <a:xfrm>
            <a:off x="548640" y="4434840"/>
            <a:ext cx="2743200" cy="274320"/>
          </a:xfrm>
          <a:prstGeom prst="rect">
            <a:avLst/>
          </a:prstGeom>
          <a:noFill/>
          <a:ln/>
        </p:spPr>
        <p:txBody>
          <a:bodyPr wrap="square" lIns="0" tIns="0" rIns="0" bIns="0" rtlCol="0" anchor="t"/>
          <a:lstStyle/>
          <a:p>
            <a:pPr indent="0" marL="0">
              <a:buNone/>
            </a:pPr>
            <a:r>
              <a:rPr lang="ko-KR" altLang="en-US" sz="1100" b="1" dirty="0">
                <a:solidFill>
                  <a:schemeClr val="accent3"/>
                </a:solidFill>
              </a:rPr>
              <a:t>참고문헌</a:t>
            </a:r>
            <a:endParaRPr lang="ko-KR" sz="1100" dirty="0"/>
          </a:p>
        </p:txBody>
      </p:sp>
      <p:sp>
        <p:nvSpPr>
          <p:cNvPr id="14" name="참고문헌 1~6"/>
          <p:cNvSpPr txBox="1"/>
          <p:nvPr/>
        </p:nvSpPr>
        <p:spPr>
          <a:xfrm>
            <a:off x="548640" y="4727448"/>
            <a:ext cx="5364328" cy="1463040"/>
          </a:xfrm>
          <a:prstGeom prst="rect">
            <a:avLst/>
          </a:prstGeom>
          <a:noFill/>
          <a:ln/>
        </p:spPr>
        <p:txBody>
          <a:bodyPr wrap="square" lIns="0" tIns="0" rIns="0" bIns="0" rtlCol="0" anchor="t"/>
          <a:lstStyle/>
          <a:p>
            <a:pPr indent="0" marL="0">
              <a:spcAft>
                <a:spcPts val="200"/>
              </a:spcAft>
              <a:buNone/>
            </a:pPr>
            <a:r>
              <a:rPr lang="ko-KR" altLang="en-US" sz="1000" dirty="0">
                <a:solidFill>
                  <a:schemeClr val="accent4"/>
                </a:solidFill>
              </a:rPr>
              <a:t>[1] M. Buch 외, "AI Tax in Mobile SoCs," ISPASS 2021.</a:t>
            </a:r>
            <a:endParaRPr lang="ko-KR" sz="1000" dirty="0"/>
          </a:p>
          <a:p>
            <a:pPr indent="0" marL="0">
              <a:spcAft>
                <a:spcPts val="200"/>
              </a:spcAft>
              <a:buNone/>
            </a:pPr>
            <a:r>
              <a:rPr lang="ko-KR" altLang="en-US" sz="1000" dirty="0">
                <a:solidFill>
                  <a:schemeClr val="accent4"/>
                </a:solidFill>
              </a:rPr>
              <a:t>[2] A. F. AbouElhamayed 외, "Beyond Inference," DAC 2024.</a:t>
            </a:r>
            <a:endParaRPr lang="ko-KR" sz="1000" dirty="0"/>
          </a:p>
          <a:p>
            <a:pPr indent="0" marL="0">
              <a:spcAft>
                <a:spcPts val="200"/>
              </a:spcAft>
              <a:buNone/>
            </a:pPr>
            <a:r>
              <a:rPr lang="ko-KR" altLang="en-US" sz="1000" dirty="0">
                <a:solidFill>
                  <a:schemeClr val="accent4"/>
                </a:solidFill>
              </a:rPr>
              <a:t>[3] Raspberry Pi Ltd., "Raspberry Pi Compute Module 5 Datasheet," 2026.</a:t>
            </a:r>
            <a:endParaRPr lang="ko-KR" sz="1000" dirty="0"/>
          </a:p>
          <a:p>
            <a:pPr indent="0" marL="0">
              <a:spcAft>
                <a:spcPts val="200"/>
              </a:spcAft>
              <a:buNone/>
            </a:pPr>
            <a:r>
              <a:rPr lang="ko-KR" altLang="en-US" sz="1000" dirty="0">
                <a:solidFill>
                  <a:schemeClr val="accent4"/>
                </a:solidFill>
              </a:rPr>
              <a:t>[4] Hailo Technologies, "HailoRT v4.24.0 User Guide."</a:t>
            </a:r>
            <a:endParaRPr lang="ko-KR" sz="1000" dirty="0"/>
          </a:p>
          <a:p>
            <a:pPr indent="0" marL="0">
              <a:spcAft>
                <a:spcPts val="200"/>
              </a:spcAft>
              <a:buNone/>
            </a:pPr>
            <a:r>
              <a:rPr lang="ko-KR" altLang="en-US" sz="1000" dirty="0">
                <a:solidFill>
                  <a:schemeClr val="accent4"/>
                </a:solidFill>
              </a:rPr>
              <a:t>[5] G. Jocher and J. Qiu, "Ultralytics YOLO11," 2024.</a:t>
            </a:r>
            <a:endParaRPr lang="ko-KR" sz="1000" dirty="0"/>
          </a:p>
          <a:p>
            <a:pPr indent="0" marL="0">
              <a:spcAft>
                <a:spcPts val="200"/>
              </a:spcAft>
              <a:buNone/>
            </a:pPr>
            <a:r>
              <a:rPr lang="ko-KR" altLang="en-US" sz="1000" dirty="0">
                <a:solidFill>
                  <a:schemeClr val="accent4"/>
                </a:solidFill>
              </a:rPr>
              <a:t>[6] B. Vergara 외, "A Hailo-Accelerated System for Precision Agriculture," CHILECON 2025.</a:t>
            </a:r>
            <a:endParaRPr lang="ko-KR" sz="1000" dirty="0"/>
          </a:p>
        </p:txBody>
      </p:sp>
      <p:sp>
        <p:nvSpPr>
          <p:cNvPr id="15" name="참고문헌 7~11"/>
          <p:cNvSpPr txBox="1"/>
          <p:nvPr/>
        </p:nvSpPr>
        <p:spPr>
          <a:xfrm>
            <a:off x="6278728" y="4727448"/>
            <a:ext cx="5364328" cy="1463040"/>
          </a:xfrm>
          <a:prstGeom prst="rect">
            <a:avLst/>
          </a:prstGeom>
          <a:noFill/>
          <a:ln/>
        </p:spPr>
        <p:txBody>
          <a:bodyPr wrap="square" lIns="0" tIns="0" rIns="0" bIns="0" rtlCol="0" anchor="t"/>
          <a:lstStyle/>
          <a:p>
            <a:pPr indent="0" marL="0">
              <a:spcAft>
                <a:spcPts val="200"/>
              </a:spcAft>
              <a:buNone/>
            </a:pPr>
            <a:r>
              <a:rPr lang="ko-KR" altLang="en-US" sz="1000" dirty="0">
                <a:solidFill>
                  <a:schemeClr val="accent4"/>
                </a:solidFill>
              </a:rPr>
              <a:t>[7] 정필성, "실시간 객체탐지를 위한 저비용 엣지 AI 가속기," 한국컴퓨터정보학회논문지, 2026.</a:t>
            </a:r>
            <a:endParaRPr lang="ko-KR" sz="1000" dirty="0"/>
          </a:p>
          <a:p>
            <a:pPr indent="0" marL="0">
              <a:spcAft>
                <a:spcPts val="200"/>
              </a:spcAft>
              <a:buNone/>
            </a:pPr>
            <a:r>
              <a:rPr lang="ko-KR" altLang="en-US" sz="1000" dirty="0">
                <a:solidFill>
                  <a:schemeClr val="accent4"/>
                </a:solidFill>
              </a:rPr>
              <a:t>[8] Linux Kernel Documentation, "Buffer Sharing and Synchronization (dma-buf)," Linux 6.18.</a:t>
            </a:r>
            <a:endParaRPr lang="ko-KR" sz="1000" dirty="0"/>
          </a:p>
          <a:p>
            <a:pPr indent="0" marL="0">
              <a:spcAft>
                <a:spcPts val="200"/>
              </a:spcAft>
              <a:buNone/>
            </a:pPr>
            <a:r>
              <a:rPr lang="ko-KR" altLang="en-US" sz="1000" dirty="0">
                <a:solidFill>
                  <a:schemeClr val="accent4"/>
                </a:solidFill>
              </a:rPr>
              <a:t>[9] FFmpeg Developers, "FFmpeg," version 7.1.5.</a:t>
            </a:r>
            <a:endParaRPr lang="ko-KR" sz="1000" dirty="0"/>
          </a:p>
          <a:p>
            <a:pPr indent="0" marL="0">
              <a:spcAft>
                <a:spcPts val="200"/>
              </a:spcAft>
              <a:buNone/>
            </a:pPr>
            <a:r>
              <a:rPr lang="ko-KR" altLang="en-US" sz="1000" dirty="0">
                <a:solidFill>
                  <a:schemeClr val="accent4"/>
                </a:solidFill>
              </a:rPr>
              <a:t>[10] Khronos Vulkan Working Group, "Vulkan 1.4.365 Specification," 2026.</a:t>
            </a:r>
            <a:endParaRPr lang="ko-KR" sz="1000" dirty="0"/>
          </a:p>
          <a:p>
            <a:pPr indent="0" marL="0">
              <a:spcAft>
                <a:spcPts val="200"/>
              </a:spcAft>
              <a:buNone/>
            </a:pPr>
            <a:r>
              <a:rPr lang="ko-KR" altLang="en-US" sz="1000" dirty="0">
                <a:solidFill>
                  <a:schemeClr val="accent4"/>
                </a:solidFill>
              </a:rPr>
              <a:t>[11] Mesa 3D Graphics Library, "V3D," Mesa 26.2.2 문서.</a:t>
            </a:r>
            <a:endParaRPr lang="ko-KR"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부록 A1 — 왜 CPU 읽기만 비싼가</a:t>
            </a:r>
            <a:endParaRPr lang="ko-KR" sz="2800" dirty="0"/>
          </a:p>
        </p:txBody>
      </p:sp>
      <p:sp>
        <p:nvSpPr>
          <p:cNvPr id="3" name="차트 제목 A1"/>
          <p:cNvSpPr txBox="1"/>
          <p:nvPr/>
        </p:nvSpPr>
        <p:spPr>
          <a:xfrm>
            <a:off x="548640" y="1261872"/>
            <a:ext cx="5760720" cy="292608"/>
          </a:xfrm>
          <a:prstGeom prst="rect">
            <a:avLst/>
          </a:prstGeom>
          <a:noFill/>
          <a:ln/>
        </p:spPr>
        <p:txBody>
          <a:bodyPr wrap="square" lIns="0" tIns="0" rIns="0" bIns="0" rtlCol="0" anchor="t"/>
          <a:lstStyle/>
          <a:p>
            <a:pPr indent="0" marL="0">
              <a:buNone/>
            </a:pPr>
            <a:r>
              <a:rPr lang="ko-KR" altLang="en-US" sz="1400" b="1" dirty="0">
                <a:solidFill>
                  <a:schemeClr val="tx1"/>
                </a:solidFill>
              </a:rPr>
              <a:t>같은 V3D 메모리 1.2 MB를 읽고 쓰는 속도 (GB/s)</a:t>
            </a:r>
            <a:endParaRPr lang="ko-KR" sz="1400" dirty="0"/>
          </a:p>
        </p:txBody>
      </p:sp>
      <p:graphicFrame>
        <p:nvGraphicFramePr>
          <p:cNvPr id="4" name="차트 A1 메모리 접근 속도" descr=""/>
          <p:cNvGraphicFramePr/>
          <p:nvPr/>
        </p:nvGraphicFramePr>
        <p:xfrm>
          <a:off x="548640" y="1572768"/>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5" name="값 라벨 GPU 쓰기 (uvec4)"/>
          <p:cNvSpPr txBox="1"/>
          <p:nvPr/>
        </p:nvSpPr>
        <p:spPr>
          <a:xfrm>
            <a:off x="5289030" y="4354765"/>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16.03</a:t>
            </a:r>
            <a:endParaRPr lang="ko-KR" sz="1300" dirty="0"/>
          </a:p>
        </p:txBody>
      </p:sp>
      <p:sp>
        <p:nvSpPr>
          <p:cNvPr id="6" name="값 라벨 GPU 읽기 (uvec4)"/>
          <p:cNvSpPr txBox="1"/>
          <p:nvPr/>
        </p:nvSpPr>
        <p:spPr>
          <a:xfrm>
            <a:off x="5040426" y="3916636"/>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14.66</a:t>
            </a:r>
            <a:endParaRPr lang="ko-KR" sz="1300" dirty="0"/>
          </a:p>
        </p:txBody>
      </p:sp>
      <p:sp>
        <p:nvSpPr>
          <p:cNvPr id="7" name="값 라벨 CPU memset"/>
          <p:cNvSpPr txBox="1"/>
          <p:nvPr/>
        </p:nvSpPr>
        <p:spPr>
          <a:xfrm>
            <a:off x="4655725" y="3478508"/>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12.54</a:t>
            </a:r>
            <a:endParaRPr lang="ko-KR" sz="1300" dirty="0"/>
          </a:p>
        </p:txBody>
      </p:sp>
      <p:sp>
        <p:nvSpPr>
          <p:cNvPr id="8" name="값 라벨 CPU memcpy 쓰기"/>
          <p:cNvSpPr txBox="1"/>
          <p:nvPr/>
        </p:nvSpPr>
        <p:spPr>
          <a:xfrm>
            <a:off x="3478032" y="3040380"/>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6.05</a:t>
            </a:r>
            <a:endParaRPr lang="ko-KR" sz="1300" dirty="0"/>
          </a:p>
        </p:txBody>
      </p:sp>
      <p:sp>
        <p:nvSpPr>
          <p:cNvPr id="9" name="값 라벨 CPU 1바이트 쓰기"/>
          <p:cNvSpPr txBox="1"/>
          <p:nvPr/>
        </p:nvSpPr>
        <p:spPr>
          <a:xfrm>
            <a:off x="2813879" y="2602252"/>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2.39  (0.514 ms)</a:t>
            </a:r>
            <a:endParaRPr lang="ko-KR" sz="1300" dirty="0"/>
          </a:p>
        </p:txBody>
      </p:sp>
      <p:sp>
        <p:nvSpPr>
          <p:cNvPr id="10" name="값 라벨 CPU memcpy 읽기"/>
          <p:cNvSpPr txBox="1"/>
          <p:nvPr/>
        </p:nvSpPr>
        <p:spPr>
          <a:xfrm>
            <a:off x="2664535" y="2164124"/>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1.567</a:t>
            </a:r>
            <a:endParaRPr lang="ko-KR" sz="1300" dirty="0"/>
          </a:p>
        </p:txBody>
      </p:sp>
      <p:sp>
        <p:nvSpPr>
          <p:cNvPr id="11" name="값 라벨 CPU 1바이트 읽기"/>
          <p:cNvSpPr txBox="1"/>
          <p:nvPr/>
        </p:nvSpPr>
        <p:spPr>
          <a:xfrm>
            <a:off x="2397604" y="1725995"/>
            <a:ext cx="1737360" cy="274320"/>
          </a:xfrm>
          <a:prstGeom prst="rect">
            <a:avLst/>
          </a:prstGeom>
          <a:noFill/>
          <a:ln/>
        </p:spPr>
        <p:txBody>
          <a:bodyPr wrap="square" lIns="0" tIns="0" rIns="0" bIns="0" rtlCol="0" anchor="ctr"/>
          <a:lstStyle/>
          <a:p>
            <a:pPr indent="0" marL="0">
              <a:buNone/>
            </a:pPr>
            <a:r>
              <a:rPr lang="ko-KR" altLang="en-US" sz="1300" b="1" dirty="0">
                <a:solidFill>
                  <a:schemeClr val="tx1"/>
                </a:solidFill>
              </a:rPr>
              <a:t>0.096  (12.82 ms)</a:t>
            </a:r>
            <a:endParaRPr lang="ko-KR" sz="1300" dirty="0"/>
          </a:p>
        </p:txBody>
      </p:sp>
      <p:sp>
        <p:nvSpPr>
          <p:cNvPr id="12" name="한 줄 메시지"/>
          <p:cNvSpPr txBox="1"/>
          <p:nvPr/>
        </p:nvSpPr>
        <p:spPr>
          <a:xfrm>
            <a:off x="548640" y="5212080"/>
            <a:ext cx="5760720" cy="548640"/>
          </a:xfrm>
          <a:prstGeom prst="rect">
            <a:avLst/>
          </a:prstGeom>
          <a:noFill/>
          <a:ln/>
        </p:spPr>
        <p:txBody>
          <a:bodyPr wrap="square" lIns="0" tIns="0" rIns="0" bIns="0" rtlCol="0" anchor="ctr"/>
          <a:lstStyle/>
          <a:p>
            <a:pPr indent="0" marL="0">
              <a:buNone/>
            </a:pPr>
            <a:r>
              <a:rPr lang="ko-KR" altLang="en-US" sz="1500" dirty="0">
                <a:solidFill>
                  <a:schemeClr val="tx1"/>
                </a:solidFill>
              </a:rPr>
              <a:t>같은 메모리에서 CPU 1바이트 </a:t>
            </a:r>
            <a:r>
              <a:rPr lang="ko-KR" altLang="en-US" sz="1500" b="1" dirty="0">
                <a:solidFill>
                  <a:schemeClr val="accent1"/>
                </a:solidFill>
              </a:rPr>
              <a:t>쓰기가 읽기보다 24.9배</a:t>
            </a:r>
            <a:r>
              <a:rPr lang="ko-KR" altLang="en-US" sz="1500" dirty="0">
                <a:solidFill>
                  <a:schemeClr val="tx1"/>
                </a:solidFill>
              </a:rPr>
              <a:t> 빠르다 — 비대칭은 CPU 읽기 하나에 몰려 있다</a:t>
            </a:r>
            <a:endParaRPr lang="ko-KR" sz="1500" dirty="0"/>
          </a:p>
        </p:txBody>
      </p:sp>
      <p:pic>
        <p:nvPicPr>
          <p:cNvPr id="13" name="원인 도식 A1" descr="CPU는 페이지 테이블이 비캐시로 표시한 GPU 버퍼를 바이트 load마다 DRAM까지 가서 읽고 쓰기는 모아서 보내는 반면, GPU는 자기 MMU로 CPU 캐시와 무관하게 같은 DRAM을 직접 읽는다.">    </p:cNvPr>
          <p:cNvPicPr>
            <a:picLocks noChangeAspect="1"/>
          </p:cNvPicPr>
          <p:nvPr/>
        </p:nvPicPr>
        <p:blipFill>
          <a:blip r:embed="rId2"/>
          <a:stretch>
            <a:fillRect/>
          </a:stretch>
        </p:blipFill>
        <p:spPr>
          <a:xfrm>
            <a:off x="6629400" y="1904113"/>
            <a:ext cx="5013655" cy="3278373"/>
          </a:xfrm>
          <a:prstGeom prst="rect">
            <a:avLst/>
          </a:prstGeom>
        </p:spPr>
      </p:pic>
      <p:sp>
        <p:nvSpPr>
          <p:cNvPr id="14" name="각주"/>
          <p:cNvSpPr txBox="1"/>
          <p:nvPr/>
        </p:nvSpPr>
        <p:spPr>
          <a:xfrm>
            <a:off x="548640" y="5852160"/>
            <a:ext cx="11094415" cy="457200"/>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출처: 메모리 비대칭 측정(2026-10-27, V3D 1150 MHz, 1.2 MB, 3회 중앙값). CPU 읽기 2개는 앞선 측정(2026-10-16 stride_read)의 값이다</a:t>
            </a:r>
            <a:endParaRPr lang="ko-KR" sz="1600" dirty="0"/>
          </a:p>
          <a:p>
            <a:pPr marL="127000" indent="-127000">
              <a:spcAft>
                <a:spcPts val="100"/>
              </a:spcAft>
              <a:buSzPct val="100000"/>
              <a:buChar char="•"/>
            </a:pPr>
            <a:r>
              <a:rPr lang="ko-KR" altLang="en-US" sz="1000" dirty="0">
                <a:solidFill>
                  <a:schemeClr val="accent2"/>
                </a:solidFill>
              </a:rPr>
              <a:t>GPU 값은 디스패치당 고정비를 뺀 값(net)이다. GPU 대역폭은 V3D 메모리와 캐시 dma-heap이 ±0.3% 안으로 같다</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부록 A2 — zero-copy의 대가: 캐시 일관성</a:t>
            </a:r>
            <a:endParaRPr lang="ko-KR" sz="2800" dirty="0"/>
          </a:p>
        </p:txBody>
      </p:sp>
      <p:pic>
        <p:nvPicPr>
          <p:cNvPr id="3" name="블록 다이어그램" descr="sync를 생략하면 CPU 캐시에만 새 값이 있고 DRAM에는 옛 값이 남아 V3D가 옛 값을 읽고, sync를 쓰면 END|WRITE에서 캐시를 DRAM으로 내보내고 START|READ에서 캐시를 비워 V3D가 새 값을 읽는다.">    </p:cNvPr>
          <p:cNvPicPr>
            <a:picLocks noChangeAspect="1"/>
          </p:cNvPicPr>
          <p:nvPr/>
        </p:nvPicPr>
        <p:blipFill>
          <a:blip r:embed="rId1"/>
          <a:stretch>
            <a:fillRect/>
          </a:stretch>
        </p:blipFill>
        <p:spPr>
          <a:xfrm>
            <a:off x="548640" y="1097280"/>
            <a:ext cx="11094415" cy="3077673"/>
          </a:xfrm>
          <a:prstGeom prst="rect">
            <a:avLst/>
          </a:prstGeom>
        </p:spPr>
      </p:pic>
      <p:sp>
        <p:nvSpPr>
          <p:cNvPr id="4" name="표 제목 A2"/>
          <p:cNvSpPr txBox="1"/>
          <p:nvPr/>
        </p:nvSpPr>
        <p:spPr>
          <a:xfrm>
            <a:off x="548640" y="4037793"/>
            <a:ext cx="6766560" cy="274320"/>
          </a:xfrm>
          <a:prstGeom prst="rect">
            <a:avLst/>
          </a:prstGeom>
          <a:noFill/>
          <a:ln/>
        </p:spPr>
        <p:txBody>
          <a:bodyPr wrap="square" lIns="0" tIns="0" rIns="0" bIns="0" rtlCol="0" anchor="t"/>
          <a:lstStyle/>
          <a:p>
            <a:pPr indent="0" marL="0">
              <a:buNone/>
            </a:pPr>
            <a:r>
              <a:rPr lang="ko-KR" altLang="en-US" sz="1200" b="1" dirty="0">
                <a:solidFill>
                  <a:schemeClr val="tx1"/>
                </a:solidFill>
              </a:rPr>
              <a:t>sync를 생략했을 때 옛 값이 보인 캐시 라인 비율 (256 KiB, 캐시 dma-heap)</a:t>
            </a:r>
            <a:endParaRPr lang="ko-KR" sz="1200" dirty="0"/>
          </a:p>
        </p:txBody>
      </p:sp>
      <p:graphicFrame>
        <p:nvGraphicFramePr>
          <p:cNvPr id="16" name="표 A2 옛 값 비율"/>
          <p:cNvGraphicFramePr>
            <a:graphicFrameLocks noGrp="1"/>
          </p:cNvGraphicFramePr>
          <p:nvPr>
            <p:extLst>
              <p:ext uri="{D42A27DB-BD31-4B8C-83A1-F6EECF244321}">
                <p14:modId xmlns:p14="http://schemas.microsoft.com/office/powerpoint/2010/main" val="1579011935"/>
              </p:ext>
            </p:extLst>
          </p:nvPr>
        </p:nvGraphicFramePr>
        <p:xfrm>
          <a:off x="548640" y="4330401"/>
          <a:ext cx="6766560" cy="914400"/>
        </p:xfrm>
        <a:graphic>
          <a:graphicData uri="http://schemas.openxmlformats.org/drawingml/2006/table">
            <a:tbl>
              <a:tblPr/>
              <a:tblGrid>
                <a:gridCol w="5029200"/>
                <a:gridCol w="1737360"/>
              </a:tblGrid>
              <a:tr h="274320">
                <a:tc>
                  <a:txBody>
                    <a:bodyPr/>
                    <a:lstStyle/>
                    <a:p>
                      <a:pPr algn="l" indent="0" marL="0">
                        <a:buNone/>
                      </a:pPr>
                      <a:r>
                        <a:rPr lang="ko-KR" altLang="en-US" sz="1300" b="1" dirty="0">
                          <a:solidFill>
                            <a:schemeClr val="bg1"/>
                          </a:solidFill>
                        </a:rPr>
                        <a:t>시나리오</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300" b="1" dirty="0">
                          <a:solidFill>
                            <a:schemeClr val="bg1"/>
                          </a:solidFill>
                        </a:rPr>
                        <a:t>옛 값</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r>
              <a:tr h="274320">
                <a:tc>
                  <a:txBody>
                    <a:bodyPr/>
                    <a:lstStyle/>
                    <a:p>
                      <a:pPr algn="l" indent="0" marL="0">
                        <a:buNone/>
                      </a:pPr>
                      <a:r>
                        <a:rPr lang="ko-KR" altLang="en-US" sz="1300" dirty="0">
                          <a:solidFill>
                            <a:schemeClr val="tx1"/>
                          </a:solidFill>
                        </a:rPr>
                        <a:t>CPU가 라인을 캐시에 상주시킨 뒤 씀 → GPU 읽기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300" dirty="0">
                          <a:solidFill>
                            <a:schemeClr val="tx1"/>
                          </a:solidFill>
                        </a:rPr>
                        <a:t>96% (0.9635)</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274320">
                <a:tc>
                  <a:txBody>
                    <a:bodyPr/>
                    <a:lstStyle/>
                    <a:p>
                      <a:pPr algn="l" indent="0" marL="0">
                        <a:buNone/>
                      </a:pPr>
                      <a:r>
                        <a:rPr lang="ko-KR" altLang="en-US" sz="1300" dirty="0">
                          <a:solidFill>
                            <a:schemeClr val="tx1"/>
                          </a:solidFill>
                        </a:rPr>
                        <a:t>CPU가 캐시를 채움 → GPU가 씀 → CPU 읽기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300" dirty="0">
                          <a:solidFill>
                            <a:schemeClr val="tx1"/>
                          </a:solidFill>
                        </a:rPr>
                        <a:t>97% (0.9739)</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274320">
                <a:tc>
                  <a:txBody>
                    <a:bodyPr/>
                    <a:lstStyle/>
                    <a:p>
                      <a:pPr algn="l" indent="0" marL="0">
                        <a:buNone/>
                      </a:pPr>
                      <a:r>
                        <a:rPr lang="ko-KR" altLang="en-US" sz="1300" dirty="0">
                          <a:solidFill>
                            <a:schemeClr val="tx1"/>
                          </a:solidFill>
                        </a:rPr>
                        <a:t>CPU가 평범하게 덮어씀 → GPU 읽기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300" dirty="0">
                          <a:solidFill>
                            <a:schemeClr val="tx1"/>
                          </a:solidFill>
                        </a:rPr>
                        <a:t>7% (0.0699)</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274320">
                <a:tc>
                  <a:txBody>
                    <a:bodyPr/>
                    <a:lstStyle/>
                    <a:p>
                      <a:pPr algn="l" indent="0" marL="0">
                        <a:buNone/>
                      </a:pPr>
                      <a:r>
                        <a:rPr lang="ko-KR" altLang="en-US" sz="1300" b="1" dirty="0">
                          <a:solidFill>
                            <a:schemeClr val="tx1"/>
                          </a:solidFill>
                        </a:rPr>
                        <a:t>sync를 지킴 (모든 경우)</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300" b="1" dirty="0">
                          <a:solidFill>
                            <a:schemeClr val="accent1"/>
                          </a:solidFill>
                        </a:rPr>
                        <a:t>0</a:t>
                      </a:r>
                      <a:endParaRPr lang="ko-KR" sz="1300" dirty="0"/>
                    </a:p>
                  </a:txBody>
                  <a:tcPr marL="109728" marR="109728" marT="18288" marB="18288"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r>
            </a:tbl>
          </a:graphicData>
        </a:graphic>
      </p:graphicFrame>
      <p:sp>
        <p:nvSpPr>
          <p:cNvPr id="6" name="요점 카드 A2"/>
          <p:cNvSpPr/>
          <p:nvPr/>
        </p:nvSpPr>
        <p:spPr>
          <a:xfrm>
            <a:off x="7635240" y="4037793"/>
            <a:ext cx="4007815" cy="1801368"/>
          </a:xfrm>
          <a:prstGeom prst="roundRect">
            <a:avLst>
              <a:gd name="adj" fmla="val 4061"/>
            </a:avLst>
          </a:prstGeom>
          <a:solidFill>
            <a:schemeClr val="bg2"/>
          </a:solidFill>
          <a:ln/>
        </p:spPr>
      </p:sp>
      <p:sp>
        <p:nvSpPr>
          <p:cNvPr id="7" name="요점 A2"/>
          <p:cNvSpPr txBox="1"/>
          <p:nvPr/>
        </p:nvSpPr>
        <p:spPr>
          <a:xfrm>
            <a:off x="7818120" y="4129233"/>
            <a:ext cx="3687775" cy="1618488"/>
          </a:xfrm>
          <a:prstGeom prst="rect">
            <a:avLst/>
          </a:prstGeom>
          <a:noFill/>
          <a:ln/>
        </p:spPr>
        <p:txBody>
          <a:bodyPr wrap="square" lIns="0" tIns="0" rIns="0" bIns="0" rtlCol="0" anchor="ctr"/>
          <a:lstStyle/>
          <a:p>
            <a:pPr marL="228600" indent="-228600">
              <a:spcAft>
                <a:spcPts val="800"/>
              </a:spcAft>
              <a:buSzPct val="100000"/>
              <a:buChar char="•"/>
            </a:pPr>
            <a:r>
              <a:rPr lang="ko-KR" altLang="en-US" sz="1500" b="1" dirty="0">
                <a:solidFill>
                  <a:schemeClr val="tx1"/>
                </a:solidFill>
              </a:rPr>
              <a:t>V3D는 CPU 캐시를 보지 않는다</a:t>
            </a:r>
            <a:r>
              <a:rPr lang="ko-KR" altLang="en-US" sz="1500" dirty="0">
                <a:solidFill>
                  <a:schemeClr val="tx1"/>
                </a:solidFill>
              </a:rPr>
              <a:t> — 제출·대기 경로에 CPU 캐시 관리 0건(커널 추적)</a:t>
            </a:r>
            <a:endParaRPr lang="ko-KR" sz="1600" dirty="0"/>
          </a:p>
          <a:p>
            <a:pPr marL="228600" indent="-228600">
              <a:spcAft>
                <a:spcPts val="800"/>
              </a:spcAft>
              <a:buSzPct val="100000"/>
              <a:buChar char="•"/>
            </a:pPr>
            <a:r>
              <a:rPr lang="ko-KR" altLang="en-US" sz="1500" dirty="0">
                <a:solidFill>
                  <a:schemeClr val="tx1"/>
                </a:solidFill>
              </a:rPr>
              <a:t>일관성을 만드는 장치는 </a:t>
            </a:r>
            <a:r>
              <a:rPr lang="ko-KR" altLang="en-US" sz="1500" b="1" dirty="0">
                <a:solidFill>
                  <a:schemeClr val="accent1"/>
                </a:solidFill>
              </a:rPr>
              <a:t>DMA_BUF_IOCTL_SYNC</a:t>
            </a:r>
            <a:r>
              <a:rPr lang="ko-KR" altLang="en-US" sz="1500" dirty="0">
                <a:solidFill>
                  <a:schemeClr val="tx1"/>
                </a:solidFill>
              </a:rPr>
              <a:t> 하나뿐 — 지키면 충분하다</a:t>
            </a:r>
            <a:endParaRPr lang="ko-KR" sz="1600" dirty="0"/>
          </a:p>
        </p:txBody>
      </p:sp>
      <p:sp>
        <p:nvSpPr>
          <p:cNvPr id="8" name="각주"/>
          <p:cNvSpPr txBox="1"/>
          <p:nvPr/>
        </p:nvSpPr>
        <p:spPr>
          <a:xfrm>
            <a:off x="548640" y="5943600"/>
            <a:ext cx="11094415" cy="384048"/>
          </a:xfrm>
          <a:prstGeom prst="rect">
            <a:avLst/>
          </a:prstGeom>
          <a:noFill/>
          <a:ln/>
        </p:spPr>
        <p:txBody>
          <a:bodyPr wrap="square" lIns="0" tIns="0" rIns="0" bIns="0" rtlCol="0" anchor="t"/>
          <a:lstStyle/>
          <a:p>
            <a:pPr indent="0" marL="0">
              <a:buNone/>
            </a:pPr>
            <a:r>
              <a:rPr lang="ko-KR" altLang="en-US" sz="1000" dirty="0">
                <a:solidFill>
                  <a:schemeClr val="accent2"/>
                </a:solidFill>
              </a:rPr>
              <a:t>출처: 메모리 비대칭 측정(2026-10-27, V3D 1150 MHz, 1.2 MB, 3회 중앙값). 장치끼리 넘기는 버퍼(디코더·NPU → GPU)는 CPU가 만지지 않으므로 이 sync가 필요 없고, CPU가 읽거나 쓰는 버퍼에만 필요하다</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Host CPU Offload">
  <a:themeElements>
    <a:clrScheme name="Host CPU Offload">
      <a:dk1>
        <a:srgbClr val="1E2A36"/>
      </a:dk1>
      <a:lt1>
        <a:srgbClr val="FFFFFF"/>
      </a:lt1>
      <a:dk2>
        <a:srgbClr val="2B4157"/>
      </a:dk2>
      <a:lt2>
        <a:srgbClr val="EEF2F6"/>
      </a:lt2>
      <a:accent1>
        <a:srgbClr val="C8641E"/>
      </a:accent1>
      <a:accent2>
        <a:srgbClr val="5A6E83"/>
      </a:accent2>
      <a:accent3>
        <a:srgbClr val="9AAABB"/>
      </a:accent3>
      <a:accent4>
        <a:srgbClr val="D6DEE6"/>
      </a:accent4>
      <a:accent5>
        <a:srgbClr val="44586D"/>
      </a:accent5>
      <a:accent6>
        <a:srgbClr val="F0B27A"/>
      </a:accent6>
      <a:hlink>
        <a:srgbClr val="2B6CB0"/>
      </a:hlink>
      <a:folHlink>
        <a:srgbClr val="5A6E83"/>
      </a:folHlink>
    </a:clrScheme>
    <a:fontScheme name="Host CPU Offload">
      <a:majorFont>
        <a:latin typeface="Arial"/>
        <a:ea typeface="맑은 고딕"/>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맑은 고딕"/>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NPU 기반 YOLO 추론에서 호스트 CPU 최소화</dc:title>
  <dc:subject>최저 지연 운용을 기준으로</dc:subject>
  <dc:creator>발표자 (작성 필요)</dc:creator>
  <cp:lastModifiedBy>발표자 (작성 필요)</cp:lastModifiedBy>
  <cp:revision>1</cp:revision>
  <dcterms:created xsi:type="dcterms:W3CDTF">2026-10-27T00:00:00Z</dcterms:created>
  <dcterms:modified xsi:type="dcterms:W3CDTF">2026-10-27T00:00:00Z</dcterms:modified>
</cp:coreProperties>
</file>